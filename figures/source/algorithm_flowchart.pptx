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57" r:id="rId4"/>
    <p:sldId id="259" r:id="rId5"/>
    <p:sldId id="260" r:id="rId6"/>
  </p:sldIdLst>
  <p:sldSz cx="27432000" cy="18288000"/>
  <p:notesSz cx="6858000" cy="9144000"/>
  <p:defaultTextStyle>
    <a:defPPr>
      <a:defRPr lang="en-US"/>
    </a:defPPr>
    <a:lvl1pPr marL="0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1pPr>
    <a:lvl2pPr marL="744550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2pPr>
    <a:lvl3pPr marL="1489100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3pPr>
    <a:lvl4pPr marL="223365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4pPr>
    <a:lvl5pPr marL="297820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5pPr>
    <a:lvl6pPr marL="372275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6pPr>
    <a:lvl7pPr marL="446730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7pPr>
    <a:lvl8pPr marL="5211851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8pPr>
    <a:lvl9pPr marL="5956402" algn="l" defTabSz="1489100" rtl="0" eaLnBrk="1" latinLnBrk="0" hangingPunct="1">
      <a:defRPr sz="29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D2D9"/>
    <a:srgbClr val="F2F5FA"/>
    <a:srgbClr val="F9731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510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208" y="16559802"/>
            <a:ext cx="25100280" cy="121917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2718" y="2609088"/>
            <a:ext cx="25100280" cy="9144000"/>
          </a:xfrm>
        </p:spPr>
        <p:txBody>
          <a:bodyPr anchor="t">
            <a:normAutofit/>
          </a:bodyPr>
          <a:lstStyle>
            <a:lvl1pPr algn="l">
              <a:defRPr sz="1280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2719" y="11948160"/>
            <a:ext cx="15985998" cy="3730752"/>
          </a:xfrm>
        </p:spPr>
        <p:txBody>
          <a:bodyPr anchor="b">
            <a:normAutofit/>
          </a:bodyPr>
          <a:lstStyle>
            <a:lvl1pPr marL="0" indent="0" algn="l">
              <a:buNone/>
              <a:defRPr sz="3912" i="1"/>
            </a:lvl1pPr>
            <a:lvl2pPr marL="812932" indent="0" algn="ctr">
              <a:buNone/>
              <a:defRPr sz="3556"/>
            </a:lvl2pPr>
            <a:lvl3pPr marL="1625864" indent="0" algn="ctr">
              <a:buNone/>
              <a:defRPr sz="3200"/>
            </a:lvl3pPr>
            <a:lvl4pPr marL="2438796" indent="0" algn="ctr">
              <a:buNone/>
              <a:defRPr sz="2844"/>
            </a:lvl4pPr>
            <a:lvl5pPr marL="3251729" indent="0" algn="ctr">
              <a:buNone/>
              <a:defRPr sz="2844"/>
            </a:lvl5pPr>
            <a:lvl6pPr marL="4064661" indent="0" algn="ctr">
              <a:buNone/>
              <a:defRPr sz="2844"/>
            </a:lvl6pPr>
            <a:lvl7pPr marL="4877593" indent="0" algn="ctr">
              <a:buNone/>
              <a:defRPr sz="2844"/>
            </a:lvl7pPr>
            <a:lvl8pPr marL="5690525" indent="0" algn="ctr">
              <a:buNone/>
              <a:defRPr sz="2844"/>
            </a:lvl8pPr>
            <a:lvl9pPr marL="6503457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09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8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718" y="2609088"/>
            <a:ext cx="11295127" cy="11436096"/>
          </a:xfrm>
        </p:spPr>
        <p:txBody>
          <a:bodyPr anchor="t">
            <a:normAutofit/>
          </a:bodyPr>
          <a:lstStyle>
            <a:lvl1pPr>
              <a:defRPr sz="960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2718" y="14045184"/>
            <a:ext cx="11295127" cy="2901696"/>
          </a:xfrm>
        </p:spPr>
        <p:txBody>
          <a:bodyPr anchor="b">
            <a:normAutofit/>
          </a:bodyPr>
          <a:lstStyle>
            <a:lvl1pPr marL="0" indent="0">
              <a:buNone/>
              <a:defRPr sz="3912" i="1">
                <a:solidFill>
                  <a:schemeClr val="tx1">
                    <a:tint val="82000"/>
                  </a:schemeClr>
                </a:solidFill>
              </a:defRPr>
            </a:lvl1pPr>
            <a:lvl2pPr marL="812932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2pPr>
            <a:lvl3pPr marL="162586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796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729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466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7593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90525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345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1165222" y="1354910"/>
            <a:ext cx="11297662" cy="3980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61503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2718" y="6876288"/>
            <a:ext cx="11624310" cy="10046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669262" y="6876288"/>
            <a:ext cx="11624310" cy="10046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7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720" y="2609088"/>
            <a:ext cx="25120853" cy="32430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2718" y="6242304"/>
            <a:ext cx="11624310" cy="1755648"/>
          </a:xfrm>
        </p:spPr>
        <p:txBody>
          <a:bodyPr anchor="b">
            <a:normAutofit/>
          </a:bodyPr>
          <a:lstStyle>
            <a:lvl1pPr marL="0" indent="0">
              <a:buNone/>
              <a:defRPr sz="3912" b="0" i="1"/>
            </a:lvl1pPr>
            <a:lvl2pPr marL="812932" indent="0">
              <a:buNone/>
              <a:defRPr sz="3556" b="1"/>
            </a:lvl2pPr>
            <a:lvl3pPr marL="1625864" indent="0">
              <a:buNone/>
              <a:defRPr sz="3200" b="1"/>
            </a:lvl3pPr>
            <a:lvl4pPr marL="2438796" indent="0">
              <a:buNone/>
              <a:defRPr sz="2844" b="1"/>
            </a:lvl4pPr>
            <a:lvl5pPr marL="3251729" indent="0">
              <a:buNone/>
              <a:defRPr sz="2844" b="1"/>
            </a:lvl5pPr>
            <a:lvl6pPr marL="4064661" indent="0">
              <a:buNone/>
              <a:defRPr sz="2844" b="1"/>
            </a:lvl6pPr>
            <a:lvl7pPr marL="4877593" indent="0">
              <a:buNone/>
              <a:defRPr sz="2844" b="1"/>
            </a:lvl7pPr>
            <a:lvl8pPr marL="5690525" indent="0">
              <a:buNone/>
              <a:defRPr sz="2844" b="1"/>
            </a:lvl8pPr>
            <a:lvl9pPr marL="6503457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2718" y="8095488"/>
            <a:ext cx="11624310" cy="88270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4669262" y="6242304"/>
            <a:ext cx="11624310" cy="1755648"/>
          </a:xfrm>
        </p:spPr>
        <p:txBody>
          <a:bodyPr anchor="b">
            <a:normAutofit/>
          </a:bodyPr>
          <a:lstStyle>
            <a:lvl1pPr marL="0" indent="0">
              <a:buNone/>
              <a:defRPr sz="3912" b="0" i="1"/>
            </a:lvl1pPr>
            <a:lvl2pPr marL="812932" indent="0">
              <a:buNone/>
              <a:defRPr sz="3556" b="1"/>
            </a:lvl2pPr>
            <a:lvl3pPr marL="1625864" indent="0">
              <a:buNone/>
              <a:defRPr sz="3200" b="1"/>
            </a:lvl3pPr>
            <a:lvl4pPr marL="2438796" indent="0">
              <a:buNone/>
              <a:defRPr sz="2844" b="1"/>
            </a:lvl4pPr>
            <a:lvl5pPr marL="3251729" indent="0">
              <a:buNone/>
              <a:defRPr sz="2844" b="1"/>
            </a:lvl5pPr>
            <a:lvl6pPr marL="4064661" indent="0">
              <a:buNone/>
              <a:defRPr sz="2844" b="1"/>
            </a:lvl6pPr>
            <a:lvl7pPr marL="4877593" indent="0">
              <a:buNone/>
              <a:defRPr sz="2844" b="1"/>
            </a:lvl7pPr>
            <a:lvl8pPr marL="5690525" indent="0">
              <a:buNone/>
              <a:defRPr sz="2844" b="1"/>
            </a:lvl8pPr>
            <a:lvl9pPr marL="6503457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4669262" y="8095488"/>
            <a:ext cx="11624310" cy="88270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2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35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718" y="2609088"/>
            <a:ext cx="11295127" cy="6559296"/>
          </a:xfrm>
        </p:spPr>
        <p:txBody>
          <a:bodyPr anchor="t">
            <a:noAutofit/>
          </a:bodyPr>
          <a:lstStyle>
            <a:lvl1pPr>
              <a:defRPr sz="782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9262" y="2633130"/>
            <a:ext cx="11624310" cy="14289024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2718" y="9534144"/>
            <a:ext cx="11295127" cy="7388352"/>
          </a:xfrm>
        </p:spPr>
        <p:txBody>
          <a:bodyPr>
            <a:normAutofit/>
          </a:bodyPr>
          <a:lstStyle>
            <a:lvl1pPr marL="0" indent="0">
              <a:buNone/>
              <a:defRPr sz="3912" i="1"/>
            </a:lvl1pPr>
            <a:lvl2pPr marL="812932" indent="0">
              <a:buNone/>
              <a:defRPr sz="2489"/>
            </a:lvl2pPr>
            <a:lvl3pPr marL="1625864" indent="0">
              <a:buNone/>
              <a:defRPr sz="2133"/>
            </a:lvl3pPr>
            <a:lvl4pPr marL="2438796" indent="0">
              <a:buNone/>
              <a:defRPr sz="1778"/>
            </a:lvl4pPr>
            <a:lvl5pPr marL="3251729" indent="0">
              <a:buNone/>
              <a:defRPr sz="1778"/>
            </a:lvl5pPr>
            <a:lvl6pPr marL="4064661" indent="0">
              <a:buNone/>
              <a:defRPr sz="1778"/>
            </a:lvl6pPr>
            <a:lvl7pPr marL="4877593" indent="0">
              <a:buNone/>
              <a:defRPr sz="1778"/>
            </a:lvl7pPr>
            <a:lvl8pPr marL="5690525" indent="0">
              <a:buNone/>
              <a:defRPr sz="1778"/>
            </a:lvl8pPr>
            <a:lvl9pPr marL="6503457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8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718" y="2609088"/>
            <a:ext cx="11295127" cy="6559296"/>
          </a:xfrm>
        </p:spPr>
        <p:txBody>
          <a:bodyPr anchor="t">
            <a:noAutofit/>
          </a:bodyPr>
          <a:lstStyle>
            <a:lvl1pPr>
              <a:defRPr sz="782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4669262" y="2633130"/>
            <a:ext cx="11624310" cy="14289024"/>
          </a:xfrm>
        </p:spPr>
        <p:txBody>
          <a:bodyPr/>
          <a:lstStyle>
            <a:lvl1pPr marL="0" indent="0">
              <a:buNone/>
              <a:defRPr sz="5690"/>
            </a:lvl1pPr>
            <a:lvl2pPr marL="812932" indent="0">
              <a:buNone/>
              <a:defRPr sz="4979"/>
            </a:lvl2pPr>
            <a:lvl3pPr marL="1625864" indent="0">
              <a:buNone/>
              <a:defRPr sz="4268"/>
            </a:lvl3pPr>
            <a:lvl4pPr marL="2438796" indent="0">
              <a:buNone/>
              <a:defRPr sz="3556"/>
            </a:lvl4pPr>
            <a:lvl5pPr marL="3251729" indent="0">
              <a:buNone/>
              <a:defRPr sz="3556"/>
            </a:lvl5pPr>
            <a:lvl6pPr marL="4064661" indent="0">
              <a:buNone/>
              <a:defRPr sz="3556"/>
            </a:lvl6pPr>
            <a:lvl7pPr marL="4877593" indent="0">
              <a:buNone/>
              <a:defRPr sz="3556"/>
            </a:lvl7pPr>
            <a:lvl8pPr marL="5690525" indent="0">
              <a:buNone/>
              <a:defRPr sz="3556"/>
            </a:lvl8pPr>
            <a:lvl9pPr marL="6503457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2718" y="9534144"/>
            <a:ext cx="11295127" cy="7388352"/>
          </a:xfrm>
        </p:spPr>
        <p:txBody>
          <a:bodyPr>
            <a:normAutofit/>
          </a:bodyPr>
          <a:lstStyle>
            <a:lvl1pPr marL="0" indent="0">
              <a:buNone/>
              <a:defRPr sz="3912" i="1"/>
            </a:lvl1pPr>
            <a:lvl2pPr marL="812932" indent="0">
              <a:buNone/>
              <a:defRPr sz="2489"/>
            </a:lvl2pPr>
            <a:lvl3pPr marL="1625864" indent="0">
              <a:buNone/>
              <a:defRPr sz="2133"/>
            </a:lvl3pPr>
            <a:lvl4pPr marL="2438796" indent="0">
              <a:buNone/>
              <a:defRPr sz="1778"/>
            </a:lvl4pPr>
            <a:lvl5pPr marL="3251729" indent="0">
              <a:buNone/>
              <a:defRPr sz="1778"/>
            </a:lvl5pPr>
            <a:lvl6pPr marL="4064661" indent="0">
              <a:buNone/>
              <a:defRPr sz="1778"/>
            </a:lvl6pPr>
            <a:lvl7pPr marL="4877593" indent="0">
              <a:buNone/>
              <a:defRPr sz="1778"/>
            </a:lvl7pPr>
            <a:lvl8pPr marL="5690525" indent="0">
              <a:buNone/>
              <a:defRPr sz="1778"/>
            </a:lvl8pPr>
            <a:lvl9pPr marL="6503457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8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9483578" y="2609088"/>
            <a:ext cx="5740147" cy="1431340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72720" y="2609088"/>
            <a:ext cx="18022823" cy="1431340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18997874" y="9591155"/>
            <a:ext cx="14201958" cy="3358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46162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718" y="2609088"/>
            <a:ext cx="25100280" cy="39014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2718" y="6876288"/>
            <a:ext cx="25100280" cy="10046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72718" y="17117576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2718" y="268232"/>
            <a:ext cx="92583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779222" y="17117576"/>
            <a:ext cx="144018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5215" y="1354910"/>
            <a:ext cx="25094733" cy="398078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32706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1625864" rtl="0" eaLnBrk="1" latinLnBrk="0" hangingPunct="1">
        <a:lnSpc>
          <a:spcPct val="100000"/>
        </a:lnSpc>
        <a:spcBef>
          <a:spcPct val="0"/>
        </a:spcBef>
        <a:buNone/>
        <a:defRPr sz="7823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66" indent="-406466" algn="l" defTabSz="1625864" rtl="0" eaLnBrk="1" latinLnBrk="0" hangingPunct="1">
        <a:lnSpc>
          <a:spcPct val="110000"/>
        </a:lnSpc>
        <a:spcBef>
          <a:spcPts val="1778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99" indent="-406466" algn="l" defTabSz="1625864" rtl="0" eaLnBrk="1" latinLnBrk="0" hangingPunct="1">
        <a:lnSpc>
          <a:spcPct val="110000"/>
        </a:lnSpc>
        <a:spcBef>
          <a:spcPts val="889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2pPr>
      <a:lvl3pPr marL="2032331" indent="-406466" algn="l" defTabSz="1625864" rtl="0" eaLnBrk="1" latinLnBrk="0" hangingPunct="1">
        <a:lnSpc>
          <a:spcPct val="110000"/>
        </a:lnSpc>
        <a:spcBef>
          <a:spcPts val="889"/>
        </a:spcBef>
        <a:buFont typeface="Arial" panose="020B0604020202020204" pitchFamily="34" charset="0"/>
        <a:buChar char="•"/>
        <a:defRPr sz="2489" kern="1200">
          <a:solidFill>
            <a:schemeClr val="tx1"/>
          </a:solidFill>
          <a:latin typeface="+mn-lt"/>
          <a:ea typeface="+mn-ea"/>
          <a:cs typeface="+mn-cs"/>
        </a:defRPr>
      </a:lvl3pPr>
      <a:lvl4pPr marL="2845263" indent="-406466" algn="l" defTabSz="1625864" rtl="0" eaLnBrk="1" latinLnBrk="0" hangingPunct="1">
        <a:lnSpc>
          <a:spcPct val="110000"/>
        </a:lnSpc>
        <a:spcBef>
          <a:spcPts val="889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3658195" indent="-406466" algn="l" defTabSz="1625864" rtl="0" eaLnBrk="1" latinLnBrk="0" hangingPunct="1">
        <a:lnSpc>
          <a:spcPct val="110000"/>
        </a:lnSpc>
        <a:spcBef>
          <a:spcPts val="889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4471126" indent="-406466" algn="l" defTabSz="1625864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4058" indent="-406466" algn="l" defTabSz="1625864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990" indent="-406466" algn="l" defTabSz="1625864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9922" indent="-406466" algn="l" defTabSz="1625864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932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864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796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729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661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7593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90525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3457" algn="l" defTabSz="1625864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.wmf"/><Relationship Id="rId21" Type="http://schemas.openxmlformats.org/officeDocument/2006/relationships/image" Target="../media/image10.e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B684-2359-F1A6-3FD7-239CA453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FFE9C69-0285-2203-DC1B-CFA487EF2F31}"/>
              </a:ext>
            </a:extLst>
          </p:cNvPr>
          <p:cNvSpPr/>
          <p:nvPr/>
        </p:nvSpPr>
        <p:spPr>
          <a:xfrm>
            <a:off x="3867005" y="762049"/>
            <a:ext cx="4121311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4BB8C8-DE17-4ADA-E48F-64C07F4100ED}"/>
              </a:ext>
            </a:extLst>
          </p:cNvPr>
          <p:cNvSpPr txBox="1"/>
          <p:nvPr/>
        </p:nvSpPr>
        <p:spPr>
          <a:xfrm>
            <a:off x="4490774" y="894224"/>
            <a:ext cx="2873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Chương 1</a:t>
            </a:r>
            <a:endParaRPr lang="en-A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1F40EB1-D9C3-5225-E071-8640EA37D3D3}"/>
              </a:ext>
            </a:extLst>
          </p:cNvPr>
          <p:cNvSpPr/>
          <p:nvPr/>
        </p:nvSpPr>
        <p:spPr>
          <a:xfrm>
            <a:off x="4038600" y="1546368"/>
            <a:ext cx="3858276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tính cấp thiết của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39F392-144E-78AB-44CD-C45BFC2A8912}"/>
              </a:ext>
            </a:extLst>
          </p:cNvPr>
          <p:cNvSpPr/>
          <p:nvPr/>
        </p:nvSpPr>
        <p:spPr>
          <a:xfrm>
            <a:off x="4532281" y="2398568"/>
            <a:ext cx="2790756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khoảng trống nghiên cứu của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CE58CD-2DA4-1E91-781E-E582C8243883}"/>
              </a:ext>
            </a:extLst>
          </p:cNvPr>
          <p:cNvSpPr/>
          <p:nvPr/>
        </p:nvSpPr>
        <p:spPr>
          <a:xfrm>
            <a:off x="4532281" y="3245493"/>
            <a:ext cx="2790756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các đóng góp mới cho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BDDB45B-E335-53A9-3892-5E600A976F20}"/>
              </a:ext>
            </a:extLst>
          </p:cNvPr>
          <p:cNvSpPr/>
          <p:nvPr/>
        </p:nvSpPr>
        <p:spPr>
          <a:xfrm>
            <a:off x="18832361" y="724074"/>
            <a:ext cx="7450289" cy="3520640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A2EBFA-47CB-6B30-7138-E72E4A19A512}"/>
              </a:ext>
            </a:extLst>
          </p:cNvPr>
          <p:cNvSpPr txBox="1"/>
          <p:nvPr/>
        </p:nvSpPr>
        <p:spPr>
          <a:xfrm>
            <a:off x="21143168" y="919402"/>
            <a:ext cx="2873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Chương 3</a:t>
            </a:r>
            <a:endParaRPr lang="en-A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6AB9BB-C6B4-9829-1EC4-68DED4C2307E}"/>
              </a:ext>
            </a:extLst>
          </p:cNvPr>
          <p:cNvSpPr/>
          <p:nvPr/>
        </p:nvSpPr>
        <p:spPr>
          <a:xfrm>
            <a:off x="19637699" y="1571548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khu vực cần nghiên cứu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56ADD7-B687-4EE5-12F6-653EBD2FB764}"/>
              </a:ext>
            </a:extLst>
          </p:cNvPr>
          <p:cNvSpPr/>
          <p:nvPr/>
        </p:nvSpPr>
        <p:spPr>
          <a:xfrm>
            <a:off x="19637699" y="2423747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 thập dữ liệu đầu vào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EA13A5-F5ED-BAC9-4CF3-2A6A928057EE}"/>
              </a:ext>
            </a:extLst>
          </p:cNvPr>
          <p:cNvSpPr/>
          <p:nvPr/>
        </p:nvSpPr>
        <p:spPr>
          <a:xfrm>
            <a:off x="23003357" y="1568986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 dựng kịch bản phát triển</a:t>
            </a:r>
            <a:r>
              <a:rPr lang="en-AU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và mức độ thâm nhập của xe điện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0A5664-6600-595F-6B1F-87DCE33CB1A1}"/>
              </a:ext>
            </a:extLst>
          </p:cNvPr>
          <p:cNvSpPr/>
          <p:nvPr/>
        </p:nvSpPr>
        <p:spPr>
          <a:xfrm>
            <a:off x="23003357" y="2417302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lựa chọn xe điện và trụ sạc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B381A00-1138-246F-A3F1-4A84D08B62BF}"/>
              </a:ext>
            </a:extLst>
          </p:cNvPr>
          <p:cNvSpPr/>
          <p:nvPr/>
        </p:nvSpPr>
        <p:spPr>
          <a:xfrm>
            <a:off x="18832361" y="8565937"/>
            <a:ext cx="7450289" cy="3386455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3B931BD-4F0E-F3EC-32FB-6522A0ECF3A4}"/>
              </a:ext>
            </a:extLst>
          </p:cNvPr>
          <p:cNvSpPr txBox="1"/>
          <p:nvPr/>
        </p:nvSpPr>
        <p:spPr>
          <a:xfrm>
            <a:off x="21143168" y="8691667"/>
            <a:ext cx="2873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Chương 4</a:t>
            </a:r>
            <a:endParaRPr lang="en-A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792A62F-EBB5-1F5D-E534-84B9182E672F}"/>
              </a:ext>
            </a:extLst>
          </p:cNvPr>
          <p:cNvSpPr/>
          <p:nvPr/>
        </p:nvSpPr>
        <p:spPr>
          <a:xfrm>
            <a:off x="19637699" y="9343813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dữ liệu đầu vào cho xe điện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32FF5E1-1455-98FD-9426-C6B83B310A60}"/>
              </a:ext>
            </a:extLst>
          </p:cNvPr>
          <p:cNvSpPr/>
          <p:nvPr/>
        </p:nvSpPr>
        <p:spPr>
          <a:xfrm>
            <a:off x="19637699" y="10196012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định goodness of fit cho các biên đầu vào mô phỏng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E565DCF-B9C1-7B70-5551-DDD49FDEA274}"/>
              </a:ext>
            </a:extLst>
          </p:cNvPr>
          <p:cNvSpPr/>
          <p:nvPr/>
        </p:nvSpPr>
        <p:spPr>
          <a:xfrm>
            <a:off x="23003357" y="9341251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 định hành vi sạc và di chuyển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F31F9A0-6727-0220-C02B-08E8892B6C60}"/>
              </a:ext>
            </a:extLst>
          </p:cNvPr>
          <p:cNvSpPr/>
          <p:nvPr/>
        </p:nvSpPr>
        <p:spPr>
          <a:xfrm>
            <a:off x="23003357" y="10189567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tra độ tin cậy (95%CI) của hệ số SCF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50D390D-C816-8E71-8B8B-CDC21C57EE8A}"/>
              </a:ext>
            </a:extLst>
          </p:cNvPr>
          <p:cNvSpPr/>
          <p:nvPr/>
        </p:nvSpPr>
        <p:spPr>
          <a:xfrm>
            <a:off x="19637699" y="11048211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mô phỏng Monte Carlo (Phần mềm MS Excel)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E264275-809D-3D15-B7F4-1121BCC00180}"/>
              </a:ext>
            </a:extLst>
          </p:cNvPr>
          <p:cNvSpPr/>
          <p:nvPr/>
        </p:nvSpPr>
        <p:spPr>
          <a:xfrm>
            <a:off x="23003357" y="11041766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hệ số sạc đồng thời của xe điện (SCF)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2831C9BB-2623-47AE-1F4A-74456BAED815}"/>
              </a:ext>
            </a:extLst>
          </p:cNvPr>
          <p:cNvSpPr/>
          <p:nvPr/>
        </p:nvSpPr>
        <p:spPr>
          <a:xfrm>
            <a:off x="9639474" y="5179482"/>
            <a:ext cx="7450289" cy="3386455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C87DAB8-6EC0-8C13-16DB-EBCBB24AC7A6}"/>
              </a:ext>
            </a:extLst>
          </p:cNvPr>
          <p:cNvSpPr txBox="1"/>
          <p:nvPr/>
        </p:nvSpPr>
        <p:spPr>
          <a:xfrm>
            <a:off x="11950281" y="5305212"/>
            <a:ext cx="2873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Chương 5</a:t>
            </a:r>
            <a:endParaRPr lang="en-A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C9FB6ED-B4C6-DC72-CD94-50026335A9AC}"/>
              </a:ext>
            </a:extLst>
          </p:cNvPr>
          <p:cNvSpPr/>
          <p:nvPr/>
        </p:nvSpPr>
        <p:spPr>
          <a:xfrm>
            <a:off x="10444812" y="5957358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dữ liệu nhu cầu sạc và các vị trí đặt trạm tiềm năng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4359FF7-03B5-6BCE-4446-4F139CA149B8}"/>
              </a:ext>
            </a:extLst>
          </p:cNvPr>
          <p:cNvSpPr/>
          <p:nvPr/>
        </p:nvSpPr>
        <p:spPr>
          <a:xfrm>
            <a:off x="10444812" y="6809557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mô hình MOMIP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CF9ED16-8A55-3C30-7C44-F14AECA05DF6}"/>
              </a:ext>
            </a:extLst>
          </p:cNvPr>
          <p:cNvSpPr/>
          <p:nvPr/>
        </p:nvSpPr>
        <p:spPr>
          <a:xfrm>
            <a:off x="13810470" y="5954796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thuật toán Branch and Cut (Phần mềm CPLEX)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8E05640-4E99-7352-BBB7-8343E9CE7B03}"/>
              </a:ext>
            </a:extLst>
          </p:cNvPr>
          <p:cNvSpPr/>
          <p:nvPr/>
        </p:nvSpPr>
        <p:spPr>
          <a:xfrm>
            <a:off x="13810470" y="6803112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thuật toàn Hybrid BIPSO-GR (Phần mềm MATLAB)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95DDE66-CBF4-320A-34E4-1DA15A84F25F}"/>
              </a:ext>
            </a:extLst>
          </p:cNvPr>
          <p:cNvSpPr/>
          <p:nvPr/>
        </p:nvSpPr>
        <p:spPr>
          <a:xfrm>
            <a:off x="10444812" y="7661756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hàm mục tiêu và các ràng buộc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B8C8653-7468-AC2B-F00C-E9FA8B73293D}"/>
              </a:ext>
            </a:extLst>
          </p:cNvPr>
          <p:cNvSpPr/>
          <p:nvPr/>
        </p:nvSpPr>
        <p:spPr>
          <a:xfrm>
            <a:off x="13810470" y="7655311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lai 2 thuật toán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33590648-B1A0-D08F-85C6-CB224D0CA2C4}"/>
              </a:ext>
            </a:extLst>
          </p:cNvPr>
          <p:cNvSpPr/>
          <p:nvPr/>
        </p:nvSpPr>
        <p:spPr>
          <a:xfrm>
            <a:off x="9639474" y="11952392"/>
            <a:ext cx="7450289" cy="3386455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E2AD2E2-4166-F1F8-66DA-BBED2BEEA6F4}"/>
              </a:ext>
            </a:extLst>
          </p:cNvPr>
          <p:cNvSpPr txBox="1"/>
          <p:nvPr/>
        </p:nvSpPr>
        <p:spPr>
          <a:xfrm>
            <a:off x="11950281" y="12078122"/>
            <a:ext cx="2873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Chương 6</a:t>
            </a:r>
            <a:endParaRPr lang="en-A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5948077-8A28-60B8-D7D5-8E4306CDCE0F}"/>
              </a:ext>
            </a:extLst>
          </p:cNvPr>
          <p:cNvSpPr/>
          <p:nvPr/>
        </p:nvSpPr>
        <p:spPr>
          <a:xfrm>
            <a:off x="10444812" y="12730268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dữ liệu các vị trí trạm sạc và dung lượng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DBB21E4-6F16-3A7D-FD70-141E1A31DA5D}"/>
              </a:ext>
            </a:extLst>
          </p:cNvPr>
          <p:cNvSpPr/>
          <p:nvPr/>
        </p:nvSpPr>
        <p:spPr>
          <a:xfrm>
            <a:off x="10444812" y="13582467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 toán cung cấp điện toàn khu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E9E00F47-A92F-8CE6-2E0F-7F3F1CBDFD3E}"/>
              </a:ext>
            </a:extLst>
          </p:cNvPr>
          <p:cNvSpPr/>
          <p:nvPr/>
        </p:nvSpPr>
        <p:spPr>
          <a:xfrm>
            <a:off x="13810470" y="12727706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thuật toán Newton – Raphson (Phần mềm Power World)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0CD0E7C-7C44-4B4F-4E9B-9856BCA22E53}"/>
              </a:ext>
            </a:extLst>
          </p:cNvPr>
          <p:cNvSpPr/>
          <p:nvPr/>
        </p:nvSpPr>
        <p:spPr>
          <a:xfrm>
            <a:off x="13810470" y="13576022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tích phân bố công suất và tổn thất khi có tác động trạm sạc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3B5870F1-EA76-0031-8F60-EA4660F01925}"/>
              </a:ext>
            </a:extLst>
          </p:cNvPr>
          <p:cNvSpPr/>
          <p:nvPr/>
        </p:nvSpPr>
        <p:spPr>
          <a:xfrm>
            <a:off x="10444812" y="14434666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cấu hình lưới điện và các điểm đấu nối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A7852237-4FA6-DD92-CCF4-26B7A8394C36}"/>
              </a:ext>
            </a:extLst>
          </p:cNvPr>
          <p:cNvSpPr/>
          <p:nvPr/>
        </p:nvSpPr>
        <p:spPr>
          <a:xfrm>
            <a:off x="3867005" y="11882794"/>
            <a:ext cx="4121311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F8DD4F9-4AFB-145E-3242-94D92F1F63BE}"/>
              </a:ext>
            </a:extLst>
          </p:cNvPr>
          <p:cNvSpPr txBox="1"/>
          <p:nvPr/>
        </p:nvSpPr>
        <p:spPr>
          <a:xfrm>
            <a:off x="4490774" y="12008525"/>
            <a:ext cx="2873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Chương 7</a:t>
            </a:r>
            <a:endParaRPr lang="en-A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E4B78D2-18A1-38B1-BF05-09B80DF610FA}"/>
              </a:ext>
            </a:extLst>
          </p:cNvPr>
          <p:cNvSpPr/>
          <p:nvPr/>
        </p:nvSpPr>
        <p:spPr>
          <a:xfrm>
            <a:off x="4532281" y="12660669"/>
            <a:ext cx="2790756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B014186-A530-A8DE-005E-D48F86FD6059}"/>
              </a:ext>
            </a:extLst>
          </p:cNvPr>
          <p:cNvSpPr/>
          <p:nvPr/>
        </p:nvSpPr>
        <p:spPr>
          <a:xfrm>
            <a:off x="4532281" y="13512869"/>
            <a:ext cx="2790756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giới hạn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2C15955-1331-95D9-4297-69D4A6C61032}"/>
              </a:ext>
            </a:extLst>
          </p:cNvPr>
          <p:cNvSpPr/>
          <p:nvPr/>
        </p:nvSpPr>
        <p:spPr>
          <a:xfrm>
            <a:off x="4532281" y="14359794"/>
            <a:ext cx="2790756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hướng nghiên cứu tiếp theo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670094E4-A6BF-32B2-4415-06756ECAD7E4}"/>
              </a:ext>
            </a:extLst>
          </p:cNvPr>
          <p:cNvSpPr/>
          <p:nvPr/>
        </p:nvSpPr>
        <p:spPr>
          <a:xfrm>
            <a:off x="9639474" y="762048"/>
            <a:ext cx="7450289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979350B-3A15-E5AF-503C-E56104EDD9EC}"/>
              </a:ext>
            </a:extLst>
          </p:cNvPr>
          <p:cNvSpPr txBox="1"/>
          <p:nvPr/>
        </p:nvSpPr>
        <p:spPr>
          <a:xfrm>
            <a:off x="11950281" y="887778"/>
            <a:ext cx="2873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Chương 2</a:t>
            </a:r>
            <a:endParaRPr lang="en-AU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14AB812-8337-756F-34C7-2FBD3C738719}"/>
              </a:ext>
            </a:extLst>
          </p:cNvPr>
          <p:cNvSpPr/>
          <p:nvPr/>
        </p:nvSpPr>
        <p:spPr>
          <a:xfrm>
            <a:off x="10444812" y="1539924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 cứu cơ sở lý thuyết của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30F8182-B0A2-1FA8-F032-09FE3F9037ED}"/>
              </a:ext>
            </a:extLst>
          </p:cNvPr>
          <p:cNvSpPr/>
          <p:nvPr/>
        </p:nvSpPr>
        <p:spPr>
          <a:xfrm>
            <a:off x="13810470" y="1537362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 trạng nghiên cứu của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Arrow: Right 184">
            <a:extLst>
              <a:ext uri="{FF2B5EF4-FFF2-40B4-BE49-F238E27FC236}">
                <a16:creationId xmlns:a16="http://schemas.microsoft.com/office/drawing/2014/main" id="{B2437440-7092-A27F-E6D9-1A73E291BB81}"/>
              </a:ext>
            </a:extLst>
          </p:cNvPr>
          <p:cNvSpPr/>
          <p:nvPr/>
        </p:nvSpPr>
        <p:spPr>
          <a:xfrm>
            <a:off x="8299545" y="2061429"/>
            <a:ext cx="1028700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86" name="Arrow: Right 185">
            <a:extLst>
              <a:ext uri="{FF2B5EF4-FFF2-40B4-BE49-F238E27FC236}">
                <a16:creationId xmlns:a16="http://schemas.microsoft.com/office/drawing/2014/main" id="{D470864A-89D2-5006-7D10-5EC51CE6D55E}"/>
              </a:ext>
            </a:extLst>
          </p:cNvPr>
          <p:cNvSpPr/>
          <p:nvPr/>
        </p:nvSpPr>
        <p:spPr>
          <a:xfrm>
            <a:off x="17446712" y="2061429"/>
            <a:ext cx="1028700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87" name="Arrow: Right 186">
            <a:extLst>
              <a:ext uri="{FF2B5EF4-FFF2-40B4-BE49-F238E27FC236}">
                <a16:creationId xmlns:a16="http://schemas.microsoft.com/office/drawing/2014/main" id="{F5D57F02-2792-49F2-2C30-4938B97D1472}"/>
              </a:ext>
            </a:extLst>
          </p:cNvPr>
          <p:cNvSpPr/>
          <p:nvPr/>
        </p:nvSpPr>
        <p:spPr>
          <a:xfrm rot="5400000">
            <a:off x="21310129" y="5912807"/>
            <a:ext cx="33864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90" name="Arrow: Right 189">
            <a:extLst>
              <a:ext uri="{FF2B5EF4-FFF2-40B4-BE49-F238E27FC236}">
                <a16:creationId xmlns:a16="http://schemas.microsoft.com/office/drawing/2014/main" id="{C6BB2560-8A0D-FC50-9593-A42A05AAC2E8}"/>
              </a:ext>
            </a:extLst>
          </p:cNvPr>
          <p:cNvSpPr/>
          <p:nvPr/>
        </p:nvSpPr>
        <p:spPr>
          <a:xfrm rot="5400000">
            <a:off x="12370553" y="9825682"/>
            <a:ext cx="2156882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94" name="Arrow: Bent-Up 193">
            <a:extLst>
              <a:ext uri="{FF2B5EF4-FFF2-40B4-BE49-F238E27FC236}">
                <a16:creationId xmlns:a16="http://schemas.microsoft.com/office/drawing/2014/main" id="{8E2C692A-4841-2CEA-D968-5603229E6BBF}"/>
              </a:ext>
            </a:extLst>
          </p:cNvPr>
          <p:cNvSpPr/>
          <p:nvPr/>
        </p:nvSpPr>
        <p:spPr>
          <a:xfrm rot="16200000">
            <a:off x="18078636" y="6256797"/>
            <a:ext cx="1844932" cy="2383807"/>
          </a:xfrm>
          <a:prstGeom prst="bentUp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97" name="Arrow: Bent-Up 196">
            <a:extLst>
              <a:ext uri="{FF2B5EF4-FFF2-40B4-BE49-F238E27FC236}">
                <a16:creationId xmlns:a16="http://schemas.microsoft.com/office/drawing/2014/main" id="{3EE3F86A-A9EC-6E01-B6A6-3E8F7EDAF91E}"/>
              </a:ext>
            </a:extLst>
          </p:cNvPr>
          <p:cNvSpPr/>
          <p:nvPr/>
        </p:nvSpPr>
        <p:spPr>
          <a:xfrm rot="16200000" flipH="1">
            <a:off x="18078635" y="11894196"/>
            <a:ext cx="1844932" cy="2383805"/>
          </a:xfrm>
          <a:prstGeom prst="bentUpArrow">
            <a:avLst>
              <a:gd name="adj1" fmla="val 20567"/>
              <a:gd name="adj2" fmla="val 25000"/>
              <a:gd name="adj3" fmla="val 25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98" name="Arrow: Right 197">
            <a:extLst>
              <a:ext uri="{FF2B5EF4-FFF2-40B4-BE49-F238E27FC236}">
                <a16:creationId xmlns:a16="http://schemas.microsoft.com/office/drawing/2014/main" id="{37C98B07-FC78-18BF-D515-AAEB1330042F}"/>
              </a:ext>
            </a:extLst>
          </p:cNvPr>
          <p:cNvSpPr/>
          <p:nvPr/>
        </p:nvSpPr>
        <p:spPr>
          <a:xfrm rot="10800000">
            <a:off x="8299545" y="13472070"/>
            <a:ext cx="1028700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D0BB933-44E7-82E9-F61C-6BCD24FDEBAB}"/>
              </a:ext>
            </a:extLst>
          </p:cNvPr>
          <p:cNvSpPr/>
          <p:nvPr/>
        </p:nvSpPr>
        <p:spPr>
          <a:xfrm>
            <a:off x="10444812" y="2428018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thuật toàn cần thực hiện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94005FDA-F9D2-B385-8F67-75C4B2FE69A9}"/>
              </a:ext>
            </a:extLst>
          </p:cNvPr>
          <p:cNvSpPr/>
          <p:nvPr/>
        </p:nvSpPr>
        <p:spPr>
          <a:xfrm>
            <a:off x="13810470" y="2441872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mô hình mô phỏng cần thực hiện 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287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D70AF-E6C3-3EED-011B-99C85042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F39B846-81F6-CC7D-AD85-3F34D80785D8}"/>
              </a:ext>
            </a:extLst>
          </p:cNvPr>
          <p:cNvSpPr/>
          <p:nvPr/>
        </p:nvSpPr>
        <p:spPr>
          <a:xfrm>
            <a:off x="3867005" y="762049"/>
            <a:ext cx="4121311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A7D4E1-36D6-753D-9550-52B98FA5C5E1}"/>
              </a:ext>
            </a:extLst>
          </p:cNvPr>
          <p:cNvSpPr txBox="1"/>
          <p:nvPr/>
        </p:nvSpPr>
        <p:spPr>
          <a:xfrm>
            <a:off x="4490774" y="818024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1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40C554-30F3-2C9E-73C6-330D79FF5037}"/>
              </a:ext>
            </a:extLst>
          </p:cNvPr>
          <p:cNvSpPr/>
          <p:nvPr/>
        </p:nvSpPr>
        <p:spPr>
          <a:xfrm>
            <a:off x="3987800" y="136483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tính cấp thiết của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CA34A284-EEBD-4FF7-6EC0-318B8467408D}"/>
              </a:ext>
            </a:extLst>
          </p:cNvPr>
          <p:cNvSpPr/>
          <p:nvPr/>
        </p:nvSpPr>
        <p:spPr>
          <a:xfrm>
            <a:off x="8877474" y="762048"/>
            <a:ext cx="8212289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FF8DE16-C04B-C608-5385-81279B0C007C}"/>
              </a:ext>
            </a:extLst>
          </p:cNvPr>
          <p:cNvSpPr txBox="1"/>
          <p:nvPr/>
        </p:nvSpPr>
        <p:spPr>
          <a:xfrm>
            <a:off x="11569281" y="811578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2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Arrow: Right 184">
            <a:extLst>
              <a:ext uri="{FF2B5EF4-FFF2-40B4-BE49-F238E27FC236}">
                <a16:creationId xmlns:a16="http://schemas.microsoft.com/office/drawing/2014/main" id="{545C195C-F929-E063-CF57-033BBB993B4E}"/>
              </a:ext>
            </a:extLst>
          </p:cNvPr>
          <p:cNvSpPr/>
          <p:nvPr/>
        </p:nvSpPr>
        <p:spPr>
          <a:xfrm>
            <a:off x="8147145" y="2061429"/>
            <a:ext cx="6209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14ED1A-73FA-AF8A-11E0-D52C14203B26}"/>
              </a:ext>
            </a:extLst>
          </p:cNvPr>
          <p:cNvSpPr/>
          <p:nvPr/>
        </p:nvSpPr>
        <p:spPr>
          <a:xfrm>
            <a:off x="3987800" y="2180578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khoảng trống nghiên cứu của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4497BF-A576-1929-593F-CE90297E62F7}"/>
              </a:ext>
            </a:extLst>
          </p:cNvPr>
          <p:cNvSpPr/>
          <p:nvPr/>
        </p:nvSpPr>
        <p:spPr>
          <a:xfrm>
            <a:off x="3987800" y="2980288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các đóng góp mới cho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EA5B19-177F-DF70-666D-318D1D1F6E12}"/>
              </a:ext>
            </a:extLst>
          </p:cNvPr>
          <p:cNvSpPr/>
          <p:nvPr/>
        </p:nvSpPr>
        <p:spPr>
          <a:xfrm>
            <a:off x="9083214" y="136483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tính cấp thiết của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91C439-84FB-BE1E-DD22-106036D3C700}"/>
              </a:ext>
            </a:extLst>
          </p:cNvPr>
          <p:cNvSpPr/>
          <p:nvPr/>
        </p:nvSpPr>
        <p:spPr>
          <a:xfrm>
            <a:off x="9083214" y="2180578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khoảng trống nghiên cứu của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2ED864-A123-6318-F23D-E587572DFFBC}"/>
              </a:ext>
            </a:extLst>
          </p:cNvPr>
          <p:cNvSpPr/>
          <p:nvPr/>
        </p:nvSpPr>
        <p:spPr>
          <a:xfrm>
            <a:off x="13068300" y="136483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tính cấp thiết của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73FBB4-F44D-4007-54B2-5E5C81319D44}"/>
              </a:ext>
            </a:extLst>
          </p:cNvPr>
          <p:cNvSpPr/>
          <p:nvPr/>
        </p:nvSpPr>
        <p:spPr>
          <a:xfrm>
            <a:off x="13068300" y="2180578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khoảng trống nghiên cứu của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D86D97D-C2A7-EA7E-6D44-7F5B3D5B4C19}"/>
              </a:ext>
            </a:extLst>
          </p:cNvPr>
          <p:cNvSpPr/>
          <p:nvPr/>
        </p:nvSpPr>
        <p:spPr>
          <a:xfrm>
            <a:off x="17295503" y="2061429"/>
            <a:ext cx="6209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2646E1-4BE3-0008-EE8A-EBE4412A0075}"/>
              </a:ext>
            </a:extLst>
          </p:cNvPr>
          <p:cNvSpPr/>
          <p:nvPr/>
        </p:nvSpPr>
        <p:spPr>
          <a:xfrm>
            <a:off x="17978921" y="762048"/>
            <a:ext cx="8212289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8283FE-5999-E383-2952-EB839A5129E5}"/>
              </a:ext>
            </a:extLst>
          </p:cNvPr>
          <p:cNvSpPr txBox="1"/>
          <p:nvPr/>
        </p:nvSpPr>
        <p:spPr>
          <a:xfrm>
            <a:off x="20670728" y="811578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3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03FFA7-BEE4-A36F-1C02-BEA1449DE9DE}"/>
              </a:ext>
            </a:extLst>
          </p:cNvPr>
          <p:cNvSpPr/>
          <p:nvPr/>
        </p:nvSpPr>
        <p:spPr>
          <a:xfrm>
            <a:off x="18184661" y="136483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khu vực cần nghiên cứu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436CC-2F4C-356D-867F-ECA72AC4453A}"/>
              </a:ext>
            </a:extLst>
          </p:cNvPr>
          <p:cNvSpPr/>
          <p:nvPr/>
        </p:nvSpPr>
        <p:spPr>
          <a:xfrm>
            <a:off x="18184661" y="2180578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 thập dữ liệu đầu vào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66BA34-C89B-AD6E-9773-2E09945E1340}"/>
              </a:ext>
            </a:extLst>
          </p:cNvPr>
          <p:cNvSpPr/>
          <p:nvPr/>
        </p:nvSpPr>
        <p:spPr>
          <a:xfrm>
            <a:off x="22169747" y="136483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 dựng kịch bản </a:t>
            </a:r>
            <a:r>
              <a:rPr lang="en-AU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thâm nhập của xe điện</a:t>
            </a:r>
            <a:endParaRPr 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100A70-59CF-CF50-109C-EC83AD67E355}"/>
              </a:ext>
            </a:extLst>
          </p:cNvPr>
          <p:cNvSpPr/>
          <p:nvPr/>
        </p:nvSpPr>
        <p:spPr>
          <a:xfrm>
            <a:off x="22169747" y="2180578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lựa chọn xe điện và trụ sạc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CACC9D9-0915-46C4-3F56-E3373AD04EE3}"/>
              </a:ext>
            </a:extLst>
          </p:cNvPr>
          <p:cNvSpPr/>
          <p:nvPr/>
        </p:nvSpPr>
        <p:spPr>
          <a:xfrm>
            <a:off x="8877474" y="4667298"/>
            <a:ext cx="8212289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D4A03A-344F-4AD6-DA22-CD9F5AF0842D}"/>
              </a:ext>
            </a:extLst>
          </p:cNvPr>
          <p:cNvSpPr txBox="1"/>
          <p:nvPr/>
        </p:nvSpPr>
        <p:spPr>
          <a:xfrm>
            <a:off x="11569281" y="4716828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5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7F345FA-EE8A-54AB-3743-DA4CC56CC98A}"/>
              </a:ext>
            </a:extLst>
          </p:cNvPr>
          <p:cNvSpPr/>
          <p:nvPr/>
        </p:nvSpPr>
        <p:spPr>
          <a:xfrm>
            <a:off x="9083214" y="527008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nhu cầu sạc và các vị trí đặt trạm tiềm năng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2DD96A-BDE5-1D13-93E2-06059F6D458D}"/>
              </a:ext>
            </a:extLst>
          </p:cNvPr>
          <p:cNvSpPr/>
          <p:nvPr/>
        </p:nvSpPr>
        <p:spPr>
          <a:xfrm>
            <a:off x="9083214" y="6085828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mô hình MOMIP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AAE1D14-D384-7CC5-E4A5-26FAEE26E284}"/>
              </a:ext>
            </a:extLst>
          </p:cNvPr>
          <p:cNvSpPr/>
          <p:nvPr/>
        </p:nvSpPr>
        <p:spPr>
          <a:xfrm>
            <a:off x="13068300" y="527008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thuật toán Branch and Cut (CPLEX)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9E02ADD-0728-01EB-5289-2370C7D51B13}"/>
              </a:ext>
            </a:extLst>
          </p:cNvPr>
          <p:cNvSpPr/>
          <p:nvPr/>
        </p:nvSpPr>
        <p:spPr>
          <a:xfrm>
            <a:off x="13068300" y="6085828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thuật toán Hybrid BIPSO-GR (MATLAB)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235835AC-E0E2-CC60-B326-EEFACC49F853}"/>
              </a:ext>
            </a:extLst>
          </p:cNvPr>
          <p:cNvSpPr/>
          <p:nvPr/>
        </p:nvSpPr>
        <p:spPr>
          <a:xfrm rot="5400000">
            <a:off x="12757822" y="8137390"/>
            <a:ext cx="6209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4BA9062-5647-A7CB-C4E9-53C7013A3F3E}"/>
              </a:ext>
            </a:extLst>
          </p:cNvPr>
          <p:cNvSpPr/>
          <p:nvPr/>
        </p:nvSpPr>
        <p:spPr>
          <a:xfrm>
            <a:off x="17978921" y="6800898"/>
            <a:ext cx="8212289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C2D94B-B54F-2D6F-38FC-09702E8F50CD}"/>
              </a:ext>
            </a:extLst>
          </p:cNvPr>
          <p:cNvSpPr txBox="1"/>
          <p:nvPr/>
        </p:nvSpPr>
        <p:spPr>
          <a:xfrm>
            <a:off x="20670728" y="6850428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4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37091BA-3186-8F11-7069-D4A30F3802A3}"/>
              </a:ext>
            </a:extLst>
          </p:cNvPr>
          <p:cNvSpPr/>
          <p:nvPr/>
        </p:nvSpPr>
        <p:spPr>
          <a:xfrm>
            <a:off x="18184661" y="740368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dữ liệu đầu vào cho xe điện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C7F148-F690-D1D2-2F5A-A5346F6F1EA0}"/>
              </a:ext>
            </a:extLst>
          </p:cNvPr>
          <p:cNvSpPr/>
          <p:nvPr/>
        </p:nvSpPr>
        <p:spPr>
          <a:xfrm>
            <a:off x="18184661" y="8219428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định goodness of fit cho các biên đầu vào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77423E1-3AFD-4800-5DBE-C5B104AE63A6}"/>
              </a:ext>
            </a:extLst>
          </p:cNvPr>
          <p:cNvSpPr/>
          <p:nvPr/>
        </p:nvSpPr>
        <p:spPr>
          <a:xfrm>
            <a:off x="22169747" y="740368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 định hành vi sạc và di chuyển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FE151A2-F4FB-AAB1-0C4A-F43919CA0F99}"/>
              </a:ext>
            </a:extLst>
          </p:cNvPr>
          <p:cNvSpPr/>
          <p:nvPr/>
        </p:nvSpPr>
        <p:spPr>
          <a:xfrm>
            <a:off x="22169747" y="8219428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tra độ tin cậy (95%CI) của hệ số SCF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69D4C58-49CB-FB1C-EDE4-71EF90F49798}"/>
              </a:ext>
            </a:extLst>
          </p:cNvPr>
          <p:cNvSpPr/>
          <p:nvPr/>
        </p:nvSpPr>
        <p:spPr>
          <a:xfrm>
            <a:off x="8877474" y="9067848"/>
            <a:ext cx="8212289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0DF455-5910-1481-6D90-0467C056F4DA}"/>
              </a:ext>
            </a:extLst>
          </p:cNvPr>
          <p:cNvSpPr txBox="1"/>
          <p:nvPr/>
        </p:nvSpPr>
        <p:spPr>
          <a:xfrm>
            <a:off x="11569281" y="9117378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6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0614FBA-C5AE-AB38-D113-D1FD29D71F8E}"/>
              </a:ext>
            </a:extLst>
          </p:cNvPr>
          <p:cNvSpPr/>
          <p:nvPr/>
        </p:nvSpPr>
        <p:spPr>
          <a:xfrm>
            <a:off x="9083214" y="967063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dữ liệu các vị trí trạm sạc và dung lượng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48E66FD-EA74-983C-CCC6-6E1EE47E211D}"/>
              </a:ext>
            </a:extLst>
          </p:cNvPr>
          <p:cNvSpPr/>
          <p:nvPr/>
        </p:nvSpPr>
        <p:spPr>
          <a:xfrm>
            <a:off x="9083214" y="10486378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 toán cung cấp điện toàn khu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C644F21-C39E-8F27-2343-0DF4BC790964}"/>
              </a:ext>
            </a:extLst>
          </p:cNvPr>
          <p:cNvSpPr/>
          <p:nvPr/>
        </p:nvSpPr>
        <p:spPr>
          <a:xfrm>
            <a:off x="13068300" y="967063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thuật toán Newton – Raphson (Power World)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C961726-6B26-A5BD-D140-CBE2E848AE19}"/>
              </a:ext>
            </a:extLst>
          </p:cNvPr>
          <p:cNvSpPr/>
          <p:nvPr/>
        </p:nvSpPr>
        <p:spPr>
          <a:xfrm>
            <a:off x="13068300" y="10486378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bố công suất và tổn thất khi có EV tác động 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9A815AC-A90A-59A8-0B8F-7F0BA7EEDAB3}"/>
              </a:ext>
            </a:extLst>
          </p:cNvPr>
          <p:cNvSpPr/>
          <p:nvPr/>
        </p:nvSpPr>
        <p:spPr>
          <a:xfrm>
            <a:off x="18184661" y="9029766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mô phỏng Monte Carlo (Phần mềm MS Excel)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4F9674A-8911-E3DD-B3B0-8DE5DD7E2827}"/>
              </a:ext>
            </a:extLst>
          </p:cNvPr>
          <p:cNvSpPr/>
          <p:nvPr/>
        </p:nvSpPr>
        <p:spPr>
          <a:xfrm>
            <a:off x="22169747" y="9029766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hệ số sạc đồng thời của xe điện (SCF)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D85B7B1-D8B6-D328-252E-EE5D7ADB6698}"/>
              </a:ext>
            </a:extLst>
          </p:cNvPr>
          <p:cNvSpPr/>
          <p:nvPr/>
        </p:nvSpPr>
        <p:spPr>
          <a:xfrm>
            <a:off x="3867005" y="9070888"/>
            <a:ext cx="4121311" cy="3451042"/>
          </a:xfrm>
          <a:prstGeom prst="roundRect">
            <a:avLst/>
          </a:prstGeom>
          <a:solidFill>
            <a:srgbClr val="F2F5FA"/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EA117F-41DD-B144-0C4E-18025D689DCA}"/>
              </a:ext>
            </a:extLst>
          </p:cNvPr>
          <p:cNvSpPr txBox="1"/>
          <p:nvPr/>
        </p:nvSpPr>
        <p:spPr>
          <a:xfrm>
            <a:off x="4490774" y="9126863"/>
            <a:ext cx="28737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7</a:t>
            </a:r>
            <a:endParaRPr lang="en-AU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7C2C342-0F77-A490-EC94-5FCD6BE6F9C8}"/>
              </a:ext>
            </a:extLst>
          </p:cNvPr>
          <p:cNvSpPr/>
          <p:nvPr/>
        </p:nvSpPr>
        <p:spPr>
          <a:xfrm>
            <a:off x="3987800" y="9673671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đề tài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71ED828-1B32-CBE6-FF5F-30C3B0BCD12A}"/>
              </a:ext>
            </a:extLst>
          </p:cNvPr>
          <p:cNvSpPr/>
          <p:nvPr/>
        </p:nvSpPr>
        <p:spPr>
          <a:xfrm>
            <a:off x="3987800" y="10489417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các giới hạn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9765992-DF45-B16C-5EAF-9FF8D27E994D}"/>
              </a:ext>
            </a:extLst>
          </p:cNvPr>
          <p:cNvSpPr/>
          <p:nvPr/>
        </p:nvSpPr>
        <p:spPr>
          <a:xfrm>
            <a:off x="3987800" y="11289127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hướng nghiên cứu tiếp theo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025A9B17-C375-CCB6-0D71-E8A73D63D1CD}"/>
              </a:ext>
            </a:extLst>
          </p:cNvPr>
          <p:cNvSpPr/>
          <p:nvPr/>
        </p:nvSpPr>
        <p:spPr>
          <a:xfrm rot="10800000">
            <a:off x="17200253" y="8219428"/>
            <a:ext cx="6209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DF829A12-434E-C0E5-1A7F-9CB26F5F7ED7}"/>
              </a:ext>
            </a:extLst>
          </p:cNvPr>
          <p:cNvSpPr/>
          <p:nvPr/>
        </p:nvSpPr>
        <p:spPr>
          <a:xfrm rot="5400000">
            <a:off x="22109180" y="5254336"/>
            <a:ext cx="6209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0E9A0432-3A17-7EED-17EB-79F03CF23972}"/>
              </a:ext>
            </a:extLst>
          </p:cNvPr>
          <p:cNvSpPr/>
          <p:nvPr/>
        </p:nvSpPr>
        <p:spPr>
          <a:xfrm rot="10800000">
            <a:off x="8088375" y="10401403"/>
            <a:ext cx="620956" cy="887724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1F45559-FB9E-EF3B-CE8E-718CA72E00CA}"/>
              </a:ext>
            </a:extLst>
          </p:cNvPr>
          <p:cNvSpPr/>
          <p:nvPr/>
        </p:nvSpPr>
        <p:spPr>
          <a:xfrm>
            <a:off x="9083214" y="694170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hàm mục tiêu và các ràng buộc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3C8AA2F-F173-44EC-E8B6-27269CC57773}"/>
              </a:ext>
            </a:extLst>
          </p:cNvPr>
          <p:cNvSpPr/>
          <p:nvPr/>
        </p:nvSpPr>
        <p:spPr>
          <a:xfrm>
            <a:off x="13068300" y="6941702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lai 2 thuật toán</a:t>
            </a:r>
            <a:endParaRPr lang="en-AU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7A552C1-78A5-5961-F599-D2CE262540B6}"/>
              </a:ext>
            </a:extLst>
          </p:cNvPr>
          <p:cNvSpPr/>
          <p:nvPr/>
        </p:nvSpPr>
        <p:spPr>
          <a:xfrm>
            <a:off x="9083214" y="11302124"/>
            <a:ext cx="3858276" cy="673979"/>
          </a:xfrm>
          <a:prstGeom prst="rect">
            <a:avLst/>
          </a:prstGeom>
          <a:noFill/>
          <a:ln w="9525">
            <a:solidFill>
              <a:srgbClr val="C7D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cấu hình lưới điện và các điểm đấu nối</a:t>
            </a:r>
          </a:p>
        </p:txBody>
      </p:sp>
    </p:spTree>
    <p:extLst>
      <p:ext uri="{BB962C8B-B14F-4D97-AF65-F5344CB8AC3E}">
        <p14:creationId xmlns:p14="http://schemas.microsoft.com/office/powerpoint/2010/main" val="714389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5B369051-24C4-C5F1-02F7-09B540C80F32}"/>
              </a:ext>
            </a:extLst>
          </p:cNvPr>
          <p:cNvSpPr/>
          <p:nvPr/>
        </p:nvSpPr>
        <p:spPr>
          <a:xfrm>
            <a:off x="13036470" y="3133878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EDD7DB-4823-01B9-03BF-4D27AC2A2588}"/>
              </a:ext>
            </a:extLst>
          </p:cNvPr>
          <p:cNvSpPr/>
          <p:nvPr/>
        </p:nvSpPr>
        <p:spPr>
          <a:xfrm>
            <a:off x="9378950" y="4660900"/>
            <a:ext cx="1917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tham số:</a:t>
            </a: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3DD9623-904F-7740-2B1C-51E426BA31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376430"/>
              </p:ext>
            </p:extLst>
          </p:nvPr>
        </p:nvGraphicFramePr>
        <p:xfrm>
          <a:off x="9505950" y="5022851"/>
          <a:ext cx="166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241200" progId="Equation.DSMT4">
                  <p:embed/>
                </p:oleObj>
              </mc:Choice>
              <mc:Fallback>
                <p:oleObj name="Equation" r:id="rId2" imgW="16635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05950" y="5022851"/>
                        <a:ext cx="1663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2C6E464-CB20-2622-828A-5AEA30F59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498796"/>
              </p:ext>
            </p:extLst>
          </p:nvPr>
        </p:nvGraphicFramePr>
        <p:xfrm>
          <a:off x="9531350" y="5264150"/>
          <a:ext cx="161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203040" progId="Equation.DSMT4">
                  <p:embed/>
                </p:oleObj>
              </mc:Choice>
              <mc:Fallback>
                <p:oleObj name="Equation" r:id="rId4" imgW="1612800" imgH="2030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3DD9623-904F-7740-2B1C-51E426BA31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531350" y="5264150"/>
                        <a:ext cx="161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B64A06A-B0D8-3883-0B50-2D13EC79676B}"/>
              </a:ext>
            </a:extLst>
          </p:cNvPr>
          <p:cNvSpPr/>
          <p:nvPr/>
        </p:nvSpPr>
        <p:spPr>
          <a:xfrm>
            <a:off x="11782345" y="4660900"/>
            <a:ext cx="1663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hạn trụ tại từng trạm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354615D-D4C3-EF5D-C6FE-36BE100829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315425"/>
              </p:ext>
            </p:extLst>
          </p:nvPr>
        </p:nvGraphicFramePr>
        <p:xfrm>
          <a:off x="12360195" y="5238750"/>
          <a:ext cx="508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28600" progId="Equation.DSMT4">
                  <p:embed/>
                </p:oleObj>
              </mc:Choice>
              <mc:Fallback>
                <p:oleObj name="Equation" r:id="rId6" imgW="507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360195" y="5238750"/>
                        <a:ext cx="508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2FB0DED-F7CE-34F0-D057-D917DE83E17D}"/>
              </a:ext>
            </a:extLst>
          </p:cNvPr>
          <p:cNvSpPr/>
          <p:nvPr/>
        </p:nvSpPr>
        <p:spPr>
          <a:xfrm>
            <a:off x="13931740" y="4660900"/>
            <a:ext cx="1663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trận khoảng cách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50754AC-6D84-3287-CACF-BF90949C1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798272"/>
              </p:ext>
            </p:extLst>
          </p:nvPr>
        </p:nvGraphicFramePr>
        <p:xfrm>
          <a:off x="14484190" y="5238750"/>
          <a:ext cx="558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203040" progId="Equation.DSMT4">
                  <p:embed/>
                </p:oleObj>
              </mc:Choice>
              <mc:Fallback>
                <p:oleObj name="Equation" r:id="rId8" imgW="558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484190" y="5238750"/>
                        <a:ext cx="558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4352642-80B2-B39B-7949-AB7DFAE76869}"/>
              </a:ext>
            </a:extLst>
          </p:cNvPr>
          <p:cNvSpPr/>
          <p:nvPr/>
        </p:nvSpPr>
        <p:spPr>
          <a:xfrm>
            <a:off x="16081135" y="4660900"/>
            <a:ext cx="1663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 nhu cầu sạc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F8DBDDC0-8299-E305-EC9D-57B7612C4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354773"/>
              </p:ext>
            </p:extLst>
          </p:nvPr>
        </p:nvGraphicFramePr>
        <p:xfrm>
          <a:off x="16817735" y="5213350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228600" progId="Equation.DSMT4">
                  <p:embed/>
                </p:oleObj>
              </mc:Choice>
              <mc:Fallback>
                <p:oleObj name="Equation" r:id="rId10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817735" y="5213350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913729-9D66-EE49-AD63-D27C11C6CF27}"/>
              </a:ext>
            </a:extLst>
          </p:cNvPr>
          <p:cNvSpPr/>
          <p:nvPr/>
        </p:nvSpPr>
        <p:spPr>
          <a:xfrm>
            <a:off x="9188451" y="4006851"/>
            <a:ext cx="8864600" cy="1625600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B3C0A0-0684-DE6E-79BC-540ABCB6AC29}"/>
              </a:ext>
            </a:extLst>
          </p:cNvPr>
          <p:cNvSpPr txBox="1"/>
          <p:nvPr/>
        </p:nvSpPr>
        <p:spPr>
          <a:xfrm>
            <a:off x="12465050" y="4085910"/>
            <a:ext cx="23431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</a:p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đầu vào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C7F276-5B12-0880-A4C7-58CE40F53B5B}"/>
              </a:ext>
            </a:extLst>
          </p:cNvPr>
          <p:cNvSpPr/>
          <p:nvPr/>
        </p:nvSpPr>
        <p:spPr>
          <a:xfrm>
            <a:off x="13931744" y="6033771"/>
            <a:ext cx="4121311" cy="6015990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9832CF-4178-C5F6-B56E-B5820EF2D255}"/>
              </a:ext>
            </a:extLst>
          </p:cNvPr>
          <p:cNvSpPr txBox="1"/>
          <p:nvPr/>
        </p:nvSpPr>
        <p:spPr>
          <a:xfrm>
            <a:off x="14555514" y="6159505"/>
            <a:ext cx="29704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(4).</a:t>
            </a:r>
          </a:p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Giai đoạn 2 – Thuật toán Branch and Cut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01EE53-02B2-17DD-0C1A-3895557197FA}"/>
              </a:ext>
            </a:extLst>
          </p:cNvPr>
          <p:cNvSpPr/>
          <p:nvPr/>
        </p:nvSpPr>
        <p:spPr>
          <a:xfrm>
            <a:off x="14737080" y="6811649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lập Branch and Cut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E75EA8F-DF0F-D72A-C7DD-5406C0C5CBBB}"/>
              </a:ext>
            </a:extLst>
          </p:cNvPr>
          <p:cNvSpPr/>
          <p:nvPr/>
        </p:nvSpPr>
        <p:spPr>
          <a:xfrm>
            <a:off x="9188453" y="6033770"/>
            <a:ext cx="4121311" cy="6015990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9A886B-0849-5D47-5045-F7882A542D04}"/>
              </a:ext>
            </a:extLst>
          </p:cNvPr>
          <p:cNvSpPr txBox="1"/>
          <p:nvPr/>
        </p:nvSpPr>
        <p:spPr>
          <a:xfrm>
            <a:off x="9812222" y="6159502"/>
            <a:ext cx="28737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(3).</a:t>
            </a:r>
          </a:p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Giai đoạn 1 – Thuật toán HBIPSO-GR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F7319EE-7730-C3BA-74B9-D0B1182D4CC5}"/>
              </a:ext>
            </a:extLst>
          </p:cNvPr>
          <p:cNvSpPr/>
          <p:nvPr/>
        </p:nvSpPr>
        <p:spPr>
          <a:xfrm>
            <a:off x="9993790" y="7592220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 tạo quần thể</a:t>
            </a:r>
          </a:p>
          <a:p>
            <a:pPr algn="ctr"/>
            <a:r>
              <a:rPr lang="en-AU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(CSP: z, số trụ: y)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A53A45-EC3A-80D5-2682-699DB715AAB2}"/>
              </a:ext>
            </a:extLst>
          </p:cNvPr>
          <p:cNvSpPr/>
          <p:nvPr/>
        </p:nvSpPr>
        <p:spPr>
          <a:xfrm>
            <a:off x="9993790" y="8372795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 giá + Greedy Repair</a:t>
            </a:r>
          </a:p>
          <a:p>
            <a:pPr algn="ctr"/>
            <a:r>
              <a:rPr lang="en-AU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, F1, F2, F3</a:t>
            </a:r>
          </a:p>
        </p:txBody>
      </p:sp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63AD4991-3509-D7F6-B38C-9F5109133F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878259"/>
              </p:ext>
            </p:extLst>
          </p:nvPr>
        </p:nvGraphicFramePr>
        <p:xfrm>
          <a:off x="10721986" y="8619014"/>
          <a:ext cx="406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03040" progId="Equation.DSMT4">
                  <p:embed/>
                </p:oleObj>
              </mc:Choice>
              <mc:Fallback>
                <p:oleObj name="Equation" r:id="rId12" imgW="406080" imgH="203040" progId="Equation.DSMT4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0A56A293-6680-86E4-3AB9-F235E4CB61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721986" y="8619014"/>
                        <a:ext cx="406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ECDD8E4-C9F3-5D43-0943-79DAE33CE56A}"/>
              </a:ext>
            </a:extLst>
          </p:cNvPr>
          <p:cNvCxnSpPr>
            <a:cxnSpLocks/>
          </p:cNvCxnSpPr>
          <p:nvPr/>
        </p:nvCxnSpPr>
        <p:spPr>
          <a:xfrm>
            <a:off x="10414806" y="8720613"/>
            <a:ext cx="307180" cy="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BFE01AC-E0BB-A9E4-2F1A-DE8DE13AF604}"/>
              </a:ext>
            </a:extLst>
          </p:cNvPr>
          <p:cNvSpPr/>
          <p:nvPr/>
        </p:nvSpPr>
        <p:spPr>
          <a:xfrm>
            <a:off x="9993790" y="9153369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PSO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(pbest/gbest)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BFF7104-2D1B-F70C-97B1-587165F3DDD0}"/>
              </a:ext>
            </a:extLst>
          </p:cNvPr>
          <p:cNvSpPr/>
          <p:nvPr/>
        </p:nvSpPr>
        <p:spPr>
          <a:xfrm>
            <a:off x="9993790" y="10121900"/>
            <a:ext cx="2560320" cy="883920"/>
          </a:xfrm>
          <a:prstGeom prst="diamond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Thỏa mãn số vòng lặp?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5FD9D0B4-06AE-B39F-C965-0D008B4E30A5}"/>
              </a:ext>
            </a:extLst>
          </p:cNvPr>
          <p:cNvCxnSpPr>
            <a:stCxn id="43" idx="3"/>
            <a:endCxn id="39" idx="3"/>
          </p:cNvCxnSpPr>
          <p:nvPr/>
        </p:nvCxnSpPr>
        <p:spPr>
          <a:xfrm flipV="1">
            <a:off x="12554111" y="8619015"/>
            <a:ext cx="12700" cy="1944846"/>
          </a:xfrm>
          <a:prstGeom prst="bentConnector3">
            <a:avLst>
              <a:gd name="adj1" fmla="val 480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E91753-82DD-46DD-54AC-D1B7D6FC3510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>
            <a:off x="11273950" y="9645814"/>
            <a:ext cx="0" cy="47609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D7E65D3D-6416-DBBE-C88A-BF5CB25D7F9A}"/>
              </a:ext>
            </a:extLst>
          </p:cNvPr>
          <p:cNvSpPr/>
          <p:nvPr/>
        </p:nvSpPr>
        <p:spPr>
          <a:xfrm>
            <a:off x="9993790" y="6811647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lập PSO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B8E4DC-898E-E293-E073-0BAF2961AC4A}"/>
              </a:ext>
            </a:extLst>
          </p:cNvPr>
          <p:cNvSpPr txBox="1"/>
          <p:nvPr/>
        </p:nvSpPr>
        <p:spPr>
          <a:xfrm>
            <a:off x="11214101" y="10161364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Không đồng ý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B7E056-A98D-278F-444C-6D0F7107522A}"/>
              </a:ext>
            </a:extLst>
          </p:cNvPr>
          <p:cNvSpPr/>
          <p:nvPr/>
        </p:nvSpPr>
        <p:spPr>
          <a:xfrm>
            <a:off x="9993790" y="11378343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 hạt giống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F1F72E-86F5-C4A1-5A8B-619F573A20E9}"/>
              </a:ext>
            </a:extLst>
          </p:cNvPr>
          <p:cNvSpPr txBox="1"/>
          <p:nvPr/>
        </p:nvSpPr>
        <p:spPr>
          <a:xfrm>
            <a:off x="10180046" y="11039951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Đồng ý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901C3AF-3E18-B2AB-6B71-48E56FAA9F19}"/>
              </a:ext>
            </a:extLst>
          </p:cNvPr>
          <p:cNvCxnSpPr>
            <a:stCxn id="43" idx="2"/>
            <a:endCxn id="49" idx="0"/>
          </p:cNvCxnSpPr>
          <p:nvPr/>
        </p:nvCxnSpPr>
        <p:spPr>
          <a:xfrm>
            <a:off x="11273950" y="11005820"/>
            <a:ext cx="0" cy="37252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18F9BF15-592F-CFB5-3208-A52DD8E96CC2}"/>
              </a:ext>
            </a:extLst>
          </p:cNvPr>
          <p:cNvCxnSpPr>
            <a:stCxn id="4" idx="2"/>
            <a:endCxn id="36" idx="0"/>
          </p:cNvCxnSpPr>
          <p:nvPr/>
        </p:nvCxnSpPr>
        <p:spPr>
          <a:xfrm rot="16200000" flipH="1">
            <a:off x="10538818" y="5323482"/>
            <a:ext cx="509270" cy="91130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A20B93D7-09CA-1130-EC01-E09AC341ED5C}"/>
              </a:ext>
            </a:extLst>
          </p:cNvPr>
          <p:cNvCxnSpPr>
            <a:stCxn id="7" idx="2"/>
            <a:endCxn id="36" idx="0"/>
          </p:cNvCxnSpPr>
          <p:nvPr/>
        </p:nvCxnSpPr>
        <p:spPr>
          <a:xfrm rot="5400000">
            <a:off x="11677017" y="5096595"/>
            <a:ext cx="509270" cy="136508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7E13974A-927E-FC7D-7452-831F22795EF9}"/>
              </a:ext>
            </a:extLst>
          </p:cNvPr>
          <p:cNvCxnSpPr>
            <a:stCxn id="9" idx="2"/>
            <a:endCxn id="36" idx="0"/>
          </p:cNvCxnSpPr>
          <p:nvPr/>
        </p:nvCxnSpPr>
        <p:spPr>
          <a:xfrm rot="5400000">
            <a:off x="12751714" y="4021893"/>
            <a:ext cx="509270" cy="3514484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2601A5D-BBC7-4C1E-5D8F-29CAF2770D8B}"/>
              </a:ext>
            </a:extLst>
          </p:cNvPr>
          <p:cNvCxnSpPr>
            <a:stCxn id="11" idx="2"/>
            <a:endCxn id="36" idx="0"/>
          </p:cNvCxnSpPr>
          <p:nvPr/>
        </p:nvCxnSpPr>
        <p:spPr>
          <a:xfrm rot="5400000">
            <a:off x="13826411" y="2947198"/>
            <a:ext cx="509270" cy="566387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4A88CAB1-0A18-77D6-BFAA-40A513F571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839454"/>
              </p:ext>
            </p:extLst>
          </p:nvPr>
        </p:nvGraphicFramePr>
        <p:xfrm>
          <a:off x="10728405" y="11635579"/>
          <a:ext cx="1041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41120" imgH="228600" progId="Equation.DSMT4">
                  <p:embed/>
                </p:oleObj>
              </mc:Choice>
              <mc:Fallback>
                <p:oleObj name="Equation" r:id="rId14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728405" y="11635579"/>
                        <a:ext cx="1041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DE32604-D2EE-9A9D-47A3-9F0792F68303}"/>
              </a:ext>
            </a:extLst>
          </p:cNvPr>
          <p:cNvCxnSpPr>
            <a:cxnSpLocks/>
            <a:stCxn id="33" idx="2"/>
            <a:endCxn id="85" idx="0"/>
          </p:cNvCxnSpPr>
          <p:nvPr/>
        </p:nvCxnSpPr>
        <p:spPr>
          <a:xfrm flipH="1">
            <a:off x="16013454" y="7304087"/>
            <a:ext cx="3791" cy="25630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B118C25E-F9BB-DD55-F243-48B85668973D}"/>
              </a:ext>
            </a:extLst>
          </p:cNvPr>
          <p:cNvCxnSpPr>
            <a:cxnSpLocks/>
            <a:stCxn id="49" idx="3"/>
            <a:endCxn id="85" idx="2"/>
          </p:cNvCxnSpPr>
          <p:nvPr/>
        </p:nvCxnSpPr>
        <p:spPr>
          <a:xfrm flipV="1">
            <a:off x="12554115" y="7743278"/>
            <a:ext cx="3276459" cy="3881287"/>
          </a:xfrm>
          <a:prstGeom prst="bentConnector3">
            <a:avLst>
              <a:gd name="adj1" fmla="val 3930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lowchart: Summing Junction 84">
            <a:extLst>
              <a:ext uri="{FF2B5EF4-FFF2-40B4-BE49-F238E27FC236}">
                <a16:creationId xmlns:a16="http://schemas.microsoft.com/office/drawing/2014/main" id="{0DFA674A-6ECB-EF4A-2843-C8C209A149DD}"/>
              </a:ext>
            </a:extLst>
          </p:cNvPr>
          <p:cNvSpPr/>
          <p:nvPr/>
        </p:nvSpPr>
        <p:spPr>
          <a:xfrm>
            <a:off x="15830569" y="7560395"/>
            <a:ext cx="365760" cy="365760"/>
          </a:xfrm>
          <a:prstGeom prst="flowChartSummingJuncti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2847865-72F3-10CE-CC63-6C52FEA783D8}"/>
              </a:ext>
            </a:extLst>
          </p:cNvPr>
          <p:cNvSpPr/>
          <p:nvPr/>
        </p:nvSpPr>
        <p:spPr>
          <a:xfrm>
            <a:off x="14081046" y="8372792"/>
            <a:ext cx="1851424" cy="14570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 độ A 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(cố định CSP)</a:t>
            </a: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81596A2-15D8-8EBB-5E10-1CEFF92853B9}"/>
              </a:ext>
            </a:extLst>
          </p:cNvPr>
          <p:cNvSpPr/>
          <p:nvPr/>
        </p:nvSpPr>
        <p:spPr>
          <a:xfrm>
            <a:off x="16082523" y="8372792"/>
            <a:ext cx="1851424" cy="14570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 độ B 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(không cố định CSP)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MIP bắt đầu giải từ nghiệm hạt giống</a:t>
            </a: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8084340C-FB93-2F9F-7541-4552D78C0CEC}"/>
              </a:ext>
            </a:extLst>
          </p:cNvPr>
          <p:cNvCxnSpPr>
            <a:cxnSpLocks/>
            <a:stCxn id="85" idx="4"/>
            <a:endCxn id="90" idx="0"/>
          </p:cNvCxnSpPr>
          <p:nvPr/>
        </p:nvCxnSpPr>
        <p:spPr>
          <a:xfrm rot="5400000">
            <a:off x="15286786" y="7646133"/>
            <a:ext cx="446636" cy="1006691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ACDD42D3-37CB-E074-A881-6C8635C28C41}"/>
              </a:ext>
            </a:extLst>
          </p:cNvPr>
          <p:cNvCxnSpPr>
            <a:cxnSpLocks/>
            <a:stCxn id="85" idx="4"/>
            <a:endCxn id="91" idx="0"/>
          </p:cNvCxnSpPr>
          <p:nvPr/>
        </p:nvCxnSpPr>
        <p:spPr>
          <a:xfrm rot="16200000" flipH="1">
            <a:off x="16287525" y="7652081"/>
            <a:ext cx="446636" cy="994786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98B71FA2-E27B-F437-3062-0ED147C018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775844"/>
              </p:ext>
            </p:extLst>
          </p:nvPr>
        </p:nvGraphicFramePr>
        <p:xfrm>
          <a:off x="14613516" y="8819639"/>
          <a:ext cx="847250" cy="197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520" imgH="190440" progId="Equation.DSMT4">
                  <p:embed/>
                </p:oleObj>
              </mc:Choice>
              <mc:Fallback>
                <p:oleObj name="Equation" r:id="rId16" imgW="81252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4613516" y="8819639"/>
                        <a:ext cx="847250" cy="197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05CC924D-9A0E-E4F0-B4DF-AE2BD9C3D8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082197"/>
              </p:ext>
            </p:extLst>
          </p:nvPr>
        </p:nvGraphicFramePr>
        <p:xfrm>
          <a:off x="14484689" y="8986519"/>
          <a:ext cx="1104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04840" imgH="228600" progId="Equation.DSMT4">
                  <p:embed/>
                </p:oleObj>
              </mc:Choice>
              <mc:Fallback>
                <p:oleObj name="Equation" r:id="rId18" imgW="1104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484689" y="8986519"/>
                        <a:ext cx="1104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DC3F84B7-1F1B-14EC-5758-AA17D3E9C9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419238"/>
              </p:ext>
            </p:extLst>
          </p:nvPr>
        </p:nvGraphicFramePr>
        <p:xfrm>
          <a:off x="16464938" y="9179278"/>
          <a:ext cx="1104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05048" imgH="228567" progId="Equation.DSMT4">
                  <p:embed/>
                </p:oleObj>
              </mc:Choice>
              <mc:Fallback>
                <p:oleObj name="Equation" r:id="rId20" imgW="1105048" imgH="22856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6464938" y="9179278"/>
                        <a:ext cx="1104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8B5B0C75-90CB-43AA-5114-9423BC40C10A}"/>
              </a:ext>
            </a:extLst>
          </p:cNvPr>
          <p:cNvSpPr txBox="1"/>
          <p:nvPr/>
        </p:nvSpPr>
        <p:spPr>
          <a:xfrm>
            <a:off x="16276655" y="9337383"/>
            <a:ext cx="18514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+ chi phí mở trạm</a:t>
            </a:r>
          </a:p>
          <a:p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Có thể đóng bớt trạm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91DAF10-2D9F-E0DB-0B86-46C7DAE353A1}"/>
              </a:ext>
            </a:extLst>
          </p:cNvPr>
          <p:cNvSpPr txBox="1"/>
          <p:nvPr/>
        </p:nvSpPr>
        <p:spPr>
          <a:xfrm>
            <a:off x="14087871" y="9221982"/>
            <a:ext cx="20355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Ràng buộc F1&gt;= mục tiêu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5D564DD-BA71-2572-BDFF-BBA9A87A859F}"/>
              </a:ext>
            </a:extLst>
          </p:cNvPr>
          <p:cNvSpPr/>
          <p:nvPr/>
        </p:nvSpPr>
        <p:spPr>
          <a:xfrm>
            <a:off x="14737080" y="10301973"/>
            <a:ext cx="2560320" cy="49244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Branch and Cut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Dừng khi MIP gap         / time limit 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A1A022CD-DA45-D22D-EF05-B47D2FBA8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832267"/>
              </p:ext>
            </p:extLst>
          </p:nvPr>
        </p:nvGraphicFramePr>
        <p:xfrm>
          <a:off x="16118718" y="10561731"/>
          <a:ext cx="296847" cy="203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1200" imgH="164880" progId="Equation.DSMT4">
                  <p:embed/>
                </p:oleObj>
              </mc:Choice>
              <mc:Fallback>
                <p:oleObj name="Equation" r:id="rId22" imgW="2412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6118718" y="10561731"/>
                        <a:ext cx="296847" cy="203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0C87223F-60B8-32BF-FDEA-A9D16A7457D8}"/>
              </a:ext>
            </a:extLst>
          </p:cNvPr>
          <p:cNvCxnSpPr>
            <a:stCxn id="90" idx="2"/>
            <a:endCxn id="113" idx="0"/>
          </p:cNvCxnSpPr>
          <p:nvPr/>
        </p:nvCxnSpPr>
        <p:spPr>
          <a:xfrm rot="16200000" flipH="1">
            <a:off x="15275926" y="9560657"/>
            <a:ext cx="472146" cy="1010482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A199AB92-41D5-6719-0ABC-C2131ABAF41A}"/>
              </a:ext>
            </a:extLst>
          </p:cNvPr>
          <p:cNvCxnSpPr>
            <a:stCxn id="108" idx="2"/>
            <a:endCxn id="113" idx="0"/>
          </p:cNvCxnSpPr>
          <p:nvPr/>
        </p:nvCxnSpPr>
        <p:spPr>
          <a:xfrm rot="5400000">
            <a:off x="16373732" y="9473336"/>
            <a:ext cx="472147" cy="1185127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lowchart: Terminator 118">
            <a:extLst>
              <a:ext uri="{FF2B5EF4-FFF2-40B4-BE49-F238E27FC236}">
                <a16:creationId xmlns:a16="http://schemas.microsoft.com/office/drawing/2014/main" id="{7574902F-22D4-A93F-EFEC-CE960694801D}"/>
              </a:ext>
            </a:extLst>
          </p:cNvPr>
          <p:cNvSpPr/>
          <p:nvPr/>
        </p:nvSpPr>
        <p:spPr>
          <a:xfrm>
            <a:off x="15429169" y="12253549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C82A7836-705B-AC30-C6EB-5BC731500046}"/>
              </a:ext>
            </a:extLst>
          </p:cNvPr>
          <p:cNvCxnSpPr>
            <a:stCxn id="46" idx="2"/>
            <a:endCxn id="38" idx="0"/>
          </p:cNvCxnSpPr>
          <p:nvPr/>
        </p:nvCxnSpPr>
        <p:spPr>
          <a:xfrm>
            <a:off x="11273950" y="7304091"/>
            <a:ext cx="0" cy="2881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2853EA4E-DA58-B6D9-D543-BF05FD5FE618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>
            <a:off x="11273950" y="8084666"/>
            <a:ext cx="0" cy="2881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6362EB6-290F-87C6-E827-BCBBFDD6E337}"/>
              </a:ext>
            </a:extLst>
          </p:cNvPr>
          <p:cNvCxnSpPr>
            <a:stCxn id="39" idx="2"/>
            <a:endCxn id="42" idx="0"/>
          </p:cNvCxnSpPr>
          <p:nvPr/>
        </p:nvCxnSpPr>
        <p:spPr>
          <a:xfrm>
            <a:off x="11273950" y="8865240"/>
            <a:ext cx="0" cy="2881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55EB6849-EFE2-8DA1-1721-56FFCC5252B8}"/>
              </a:ext>
            </a:extLst>
          </p:cNvPr>
          <p:cNvCxnSpPr>
            <a:cxnSpLocks/>
            <a:stCxn id="113" idx="2"/>
            <a:endCxn id="119" idx="0"/>
          </p:cNvCxnSpPr>
          <p:nvPr/>
        </p:nvCxnSpPr>
        <p:spPr>
          <a:xfrm flipH="1">
            <a:off x="16013454" y="10794414"/>
            <a:ext cx="3791" cy="14591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F00F3E7-FBA0-D933-F314-56217F647FD0}"/>
              </a:ext>
            </a:extLst>
          </p:cNvPr>
          <p:cNvCxnSpPr>
            <a:stCxn id="3" idx="2"/>
            <a:endCxn id="13" idx="0"/>
          </p:cNvCxnSpPr>
          <p:nvPr/>
        </p:nvCxnSpPr>
        <p:spPr>
          <a:xfrm>
            <a:off x="13620750" y="3604618"/>
            <a:ext cx="0" cy="4022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088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D0B3-86E5-8C69-3681-0E1033A9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B9009F50-6440-C9B1-28E8-C590ED4A3B76}"/>
              </a:ext>
            </a:extLst>
          </p:cNvPr>
          <p:cNvSpPr/>
          <p:nvPr/>
        </p:nvSpPr>
        <p:spPr>
          <a:xfrm>
            <a:off x="11255295" y="3133878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196307-7424-79FB-276F-858DDDA2A1BC}"/>
              </a:ext>
            </a:extLst>
          </p:cNvPr>
          <p:cNvSpPr/>
          <p:nvPr/>
        </p:nvSpPr>
        <p:spPr>
          <a:xfrm>
            <a:off x="10559415" y="3939074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hợp các mục tiêu và trọng số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Flowchart: Terminator 118">
            <a:extLst>
              <a:ext uri="{FF2B5EF4-FFF2-40B4-BE49-F238E27FC236}">
                <a16:creationId xmlns:a16="http://schemas.microsoft.com/office/drawing/2014/main" id="{9AEC8AA3-8373-4C0D-4327-6F993B3B8844}"/>
              </a:ext>
            </a:extLst>
          </p:cNvPr>
          <p:cNvSpPr/>
          <p:nvPr/>
        </p:nvSpPr>
        <p:spPr>
          <a:xfrm>
            <a:off x="11255295" y="11493955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9B52BFD4-6EE2-86F9-680F-A9A5A675B93F}"/>
              </a:ext>
            </a:extLst>
          </p:cNvPr>
          <p:cNvSpPr/>
          <p:nvPr/>
        </p:nvSpPr>
        <p:spPr>
          <a:xfrm>
            <a:off x="10559415" y="9068521"/>
            <a:ext cx="2560320" cy="883920"/>
          </a:xfrm>
          <a:prstGeom prst="diamond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tra các biến nguyên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F70AB3-751C-F2F5-DA3B-BD3C0DC80D7F}"/>
              </a:ext>
            </a:extLst>
          </p:cNvPr>
          <p:cNvCxnSpPr>
            <a:cxnSpLocks/>
            <a:stCxn id="3" idx="2"/>
            <a:endCxn id="33" idx="0"/>
          </p:cNvCxnSpPr>
          <p:nvPr/>
        </p:nvCxnSpPr>
        <p:spPr>
          <a:xfrm>
            <a:off x="11839575" y="3604618"/>
            <a:ext cx="0" cy="33445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1FD5CFF-BD57-D7AC-F4D1-148D3EAC119C}"/>
              </a:ext>
            </a:extLst>
          </p:cNvPr>
          <p:cNvSpPr/>
          <p:nvPr/>
        </p:nvSpPr>
        <p:spPr>
          <a:xfrm>
            <a:off x="10559415" y="4966257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 dựng cấu trúc MILP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16C0F4-AF97-79CA-7716-E92451B32582}"/>
              </a:ext>
            </a:extLst>
          </p:cNvPr>
          <p:cNvSpPr/>
          <p:nvPr/>
        </p:nvSpPr>
        <p:spPr>
          <a:xfrm>
            <a:off x="10559415" y="5993440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 tạo nút gốc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toán LP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78EC92-6BCD-B9C6-5728-C541F835AE40}"/>
              </a:ext>
            </a:extLst>
          </p:cNvPr>
          <p:cNvSpPr/>
          <p:nvPr/>
        </p:nvSpPr>
        <p:spPr>
          <a:xfrm>
            <a:off x="10559415" y="8047808"/>
            <a:ext cx="2560320" cy="83078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 giá các chỉ tiêu trạm sạc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(số EV phục vụ, cân bằng tải, diện tích sử dụng)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C6722D8-3E7C-AFBB-23FB-B040FFBB03D4}"/>
              </a:ext>
            </a:extLst>
          </p:cNvPr>
          <p:cNvCxnSpPr>
            <a:stCxn id="33" idx="2"/>
            <a:endCxn id="29" idx="0"/>
          </p:cNvCxnSpPr>
          <p:nvPr/>
        </p:nvCxnSpPr>
        <p:spPr>
          <a:xfrm>
            <a:off x="11839575" y="4771181"/>
            <a:ext cx="0" cy="19507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C6DA93F-DBDE-0C13-7C01-EE55F5272B6A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>
            <a:off x="11839575" y="5798366"/>
            <a:ext cx="0" cy="19507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93331A9-7050-D56E-9F6A-522F0906F716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>
            <a:off x="11839575" y="8878595"/>
            <a:ext cx="0" cy="1899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B55FBB07-AC38-E88D-10FF-59CE2218E37D}"/>
              </a:ext>
            </a:extLst>
          </p:cNvPr>
          <p:cNvSpPr/>
          <p:nvPr/>
        </p:nvSpPr>
        <p:spPr>
          <a:xfrm>
            <a:off x="10559415" y="10473241"/>
            <a:ext cx="2560320" cy="83078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(11).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nghiệm tốt nhất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(Phương án tối ưu)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5D0606C-95DE-556F-A57F-B7096CD43E4C}"/>
              </a:ext>
            </a:extLst>
          </p:cNvPr>
          <p:cNvCxnSpPr>
            <a:cxnSpLocks/>
            <a:stCxn id="2" idx="2"/>
            <a:endCxn id="64" idx="0"/>
          </p:cNvCxnSpPr>
          <p:nvPr/>
        </p:nvCxnSpPr>
        <p:spPr>
          <a:xfrm>
            <a:off x="11839575" y="9952445"/>
            <a:ext cx="0" cy="52079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71B5D38-C7BA-0FD3-7B62-0A36348F9C28}"/>
              </a:ext>
            </a:extLst>
          </p:cNvPr>
          <p:cNvCxnSpPr>
            <a:stCxn id="64" idx="2"/>
            <a:endCxn id="119" idx="0"/>
          </p:cNvCxnSpPr>
          <p:nvPr/>
        </p:nvCxnSpPr>
        <p:spPr>
          <a:xfrm>
            <a:off x="11839575" y="11304028"/>
            <a:ext cx="0" cy="1899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68E526D7-4E15-ADDB-5DD6-4935E8B83302}"/>
              </a:ext>
            </a:extLst>
          </p:cNvPr>
          <p:cNvSpPr/>
          <p:nvPr/>
        </p:nvSpPr>
        <p:spPr>
          <a:xfrm>
            <a:off x="13727987" y="9091762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 mặt phẳng cắt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A7CC945-756F-2C8E-1A13-7AAE65C4B690}"/>
              </a:ext>
            </a:extLst>
          </p:cNvPr>
          <p:cNvSpPr/>
          <p:nvPr/>
        </p:nvSpPr>
        <p:spPr>
          <a:xfrm>
            <a:off x="13727987" y="10112479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nhánh phương án theo biến phân số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FBA560B-AC35-392D-A639-D1D049ED6522}"/>
              </a:ext>
            </a:extLst>
          </p:cNvPr>
          <p:cNvSpPr/>
          <p:nvPr/>
        </p:nvSpPr>
        <p:spPr>
          <a:xfrm>
            <a:off x="13727987" y="11130854"/>
            <a:ext cx="2560320" cy="8321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 nút kế tiếp và giải LP tại nút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62518492-0F39-EC58-1777-CB89F1E9C412}"/>
              </a:ext>
            </a:extLst>
          </p:cNvPr>
          <p:cNvCxnSpPr>
            <a:stCxn id="78" idx="3"/>
            <a:endCxn id="30" idx="3"/>
          </p:cNvCxnSpPr>
          <p:nvPr/>
        </p:nvCxnSpPr>
        <p:spPr>
          <a:xfrm flipH="1" flipV="1">
            <a:off x="13119735" y="6409493"/>
            <a:ext cx="3168572" cy="5137414"/>
          </a:xfrm>
          <a:prstGeom prst="bentConnector3">
            <a:avLst>
              <a:gd name="adj1" fmla="val -7215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C2EE93E8-A6B2-92D9-BD2D-41A15A1E586F}"/>
              </a:ext>
            </a:extLst>
          </p:cNvPr>
          <p:cNvSpPr/>
          <p:nvPr/>
        </p:nvSpPr>
        <p:spPr>
          <a:xfrm>
            <a:off x="10559415" y="7021285"/>
            <a:ext cx="2560320" cy="83078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bài toán LP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124A03A-52F9-76E0-89FA-40E0FB8BF505}"/>
              </a:ext>
            </a:extLst>
          </p:cNvPr>
          <p:cNvCxnSpPr>
            <a:stCxn id="2" idx="3"/>
            <a:endCxn id="75" idx="1"/>
          </p:cNvCxnSpPr>
          <p:nvPr/>
        </p:nvCxnSpPr>
        <p:spPr>
          <a:xfrm flipV="1">
            <a:off x="13119735" y="9507818"/>
            <a:ext cx="608252" cy="266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F55BB44-4BD1-6CE7-FC1A-75EEB4012876}"/>
              </a:ext>
            </a:extLst>
          </p:cNvPr>
          <p:cNvCxnSpPr>
            <a:stCxn id="75" idx="2"/>
            <a:endCxn id="77" idx="0"/>
          </p:cNvCxnSpPr>
          <p:nvPr/>
        </p:nvCxnSpPr>
        <p:spPr>
          <a:xfrm>
            <a:off x="15008147" y="9923866"/>
            <a:ext cx="0" cy="18861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8414693-9576-9632-60A9-AB03C3390363}"/>
              </a:ext>
            </a:extLst>
          </p:cNvPr>
          <p:cNvCxnSpPr>
            <a:stCxn id="77" idx="2"/>
            <a:endCxn id="78" idx="0"/>
          </p:cNvCxnSpPr>
          <p:nvPr/>
        </p:nvCxnSpPr>
        <p:spPr>
          <a:xfrm>
            <a:off x="15008147" y="10944582"/>
            <a:ext cx="0" cy="18627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8549ABE-A6B7-4409-9572-993AFEA66ECE}"/>
              </a:ext>
            </a:extLst>
          </p:cNvPr>
          <p:cNvCxnSpPr>
            <a:stCxn id="30" idx="2"/>
            <a:endCxn id="84" idx="0"/>
          </p:cNvCxnSpPr>
          <p:nvPr/>
        </p:nvCxnSpPr>
        <p:spPr>
          <a:xfrm>
            <a:off x="11839575" y="6825545"/>
            <a:ext cx="0" cy="19573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CFC2D8CF-9337-747C-13EF-50E0CB3CC1EE}"/>
              </a:ext>
            </a:extLst>
          </p:cNvPr>
          <p:cNvCxnSpPr>
            <a:stCxn id="84" idx="2"/>
            <a:endCxn id="31" idx="0"/>
          </p:cNvCxnSpPr>
          <p:nvPr/>
        </p:nvCxnSpPr>
        <p:spPr>
          <a:xfrm>
            <a:off x="11839575" y="7852068"/>
            <a:ext cx="0" cy="19573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CDC9960F-C277-F6EB-AFE6-08C33E88C241}"/>
              </a:ext>
            </a:extLst>
          </p:cNvPr>
          <p:cNvSpPr txBox="1"/>
          <p:nvPr/>
        </p:nvSpPr>
        <p:spPr>
          <a:xfrm>
            <a:off x="11943164" y="9193342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7091CA4-A9D1-CEAA-CC23-11BE68BAE66D}"/>
              </a:ext>
            </a:extLst>
          </p:cNvPr>
          <p:cNvSpPr txBox="1"/>
          <p:nvPr/>
        </p:nvSpPr>
        <p:spPr>
          <a:xfrm>
            <a:off x="10552512" y="10002772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3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Có</a:t>
            </a:r>
            <a:endParaRPr lang="en-AU"/>
          </a:p>
        </p:txBody>
      </p:sp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4B2DF733-5DC0-8AA6-07D5-C716A21B5C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8196094"/>
              </p:ext>
            </p:extLst>
          </p:nvPr>
        </p:nvGraphicFramePr>
        <p:xfrm>
          <a:off x="11255295" y="5487663"/>
          <a:ext cx="1181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800" imgH="228600" progId="Equation.DSMT4">
                  <p:embed/>
                </p:oleObj>
              </mc:Choice>
              <mc:Fallback>
                <p:oleObj name="Equation" r:id="rId2" imgW="1180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255295" y="5487663"/>
                        <a:ext cx="1181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2399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9823A-A988-FCD4-9497-D921F80A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E286FCBB-34D7-A4CC-B870-DB0B09D94864}"/>
              </a:ext>
            </a:extLst>
          </p:cNvPr>
          <p:cNvSpPr/>
          <p:nvPr/>
        </p:nvSpPr>
        <p:spPr>
          <a:xfrm>
            <a:off x="13099970" y="482118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DF3440-13E7-34FE-D20A-6EA185F83962}"/>
              </a:ext>
            </a:extLst>
          </p:cNvPr>
          <p:cNvSpPr/>
          <p:nvPr/>
        </p:nvSpPr>
        <p:spPr>
          <a:xfrm>
            <a:off x="9378950" y="2009140"/>
            <a:ext cx="1917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tham số:</a:t>
            </a:r>
          </a:p>
          <a:p>
            <a:pPr algn="ctr"/>
            <a:endParaRPr lang="en-US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1C97F3A-23BD-FD4E-FF35-431EF41FB2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081227"/>
              </p:ext>
            </p:extLst>
          </p:nvPr>
        </p:nvGraphicFramePr>
        <p:xfrm>
          <a:off x="9505950" y="2371090"/>
          <a:ext cx="1663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241200" progId="Equation.DSMT4">
                  <p:embed/>
                </p:oleObj>
              </mc:Choice>
              <mc:Fallback>
                <p:oleObj name="Equation" r:id="rId2" imgW="1663560" imgH="2412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4F23E1D-AF72-9052-3512-7EC761DA83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05950" y="2371090"/>
                        <a:ext cx="1663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2037171-4390-558B-A99F-A84E81AF88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476777"/>
              </p:ext>
            </p:extLst>
          </p:nvPr>
        </p:nvGraphicFramePr>
        <p:xfrm>
          <a:off x="9531350" y="2612390"/>
          <a:ext cx="161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203040" progId="Equation.DSMT4">
                  <p:embed/>
                </p:oleObj>
              </mc:Choice>
              <mc:Fallback>
                <p:oleObj name="Equation" r:id="rId4" imgW="1612800" imgH="2030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C5EF7DE-5735-BB1A-EB34-B684FAE2F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531350" y="2612390"/>
                        <a:ext cx="161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B066792-5356-44BB-A76F-F7CA95EA324B}"/>
              </a:ext>
            </a:extLst>
          </p:cNvPr>
          <p:cNvSpPr/>
          <p:nvPr/>
        </p:nvSpPr>
        <p:spPr>
          <a:xfrm>
            <a:off x="11782345" y="2009140"/>
            <a:ext cx="1663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hạn trụ tại từng trạm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3EFAB29-6022-E7CF-2DFF-89C9C9389C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052658"/>
              </p:ext>
            </p:extLst>
          </p:nvPr>
        </p:nvGraphicFramePr>
        <p:xfrm>
          <a:off x="12360195" y="2586990"/>
          <a:ext cx="508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28600" progId="Equation.DSMT4">
                  <p:embed/>
                </p:oleObj>
              </mc:Choice>
              <mc:Fallback>
                <p:oleObj name="Equation" r:id="rId6" imgW="507960" imgH="2286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78A9A9F-B87A-8AE5-3D9F-3437AAFA52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360195" y="2586990"/>
                        <a:ext cx="508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CB03762-B49D-598D-3F31-A57D74C55331}"/>
              </a:ext>
            </a:extLst>
          </p:cNvPr>
          <p:cNvSpPr/>
          <p:nvPr/>
        </p:nvSpPr>
        <p:spPr>
          <a:xfrm>
            <a:off x="13931740" y="2009140"/>
            <a:ext cx="1663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trận khoảng cách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61B52F8-41A9-C8CE-B303-013262EDD2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124246"/>
              </p:ext>
            </p:extLst>
          </p:nvPr>
        </p:nvGraphicFramePr>
        <p:xfrm>
          <a:off x="14484190" y="2586990"/>
          <a:ext cx="558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203040" progId="Equation.DSMT4">
                  <p:embed/>
                </p:oleObj>
              </mc:Choice>
              <mc:Fallback>
                <p:oleObj name="Equation" r:id="rId8" imgW="558720" imgH="2030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5EBD2E6-05C3-5A40-A977-6DE6B694D6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484190" y="2586990"/>
                        <a:ext cx="558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0FD7D552-D370-46D9-04F1-3D1257465E19}"/>
              </a:ext>
            </a:extLst>
          </p:cNvPr>
          <p:cNvSpPr/>
          <p:nvPr/>
        </p:nvSpPr>
        <p:spPr>
          <a:xfrm>
            <a:off x="16081135" y="2009140"/>
            <a:ext cx="1663700" cy="863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 nhu cầu sạc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BED8DFAA-3B19-6629-216E-1E41B0FFAA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487157"/>
              </p:ext>
            </p:extLst>
          </p:nvPr>
        </p:nvGraphicFramePr>
        <p:xfrm>
          <a:off x="16817735" y="2561590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228600" progId="Equation.DSMT4">
                  <p:embed/>
                </p:oleObj>
              </mc:Choice>
              <mc:Fallback>
                <p:oleObj name="Equation" r:id="rId10" imgW="190440" imgH="22860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33E351AB-0322-1682-24BB-3C832D8110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817735" y="2561590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21AFDD6-1D8F-271A-9C34-34EBCBE4027F}"/>
              </a:ext>
            </a:extLst>
          </p:cNvPr>
          <p:cNvSpPr/>
          <p:nvPr/>
        </p:nvSpPr>
        <p:spPr>
          <a:xfrm>
            <a:off x="9188450" y="1355090"/>
            <a:ext cx="8864600" cy="1625600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8DC76A-2CB0-E40D-FC66-EB595D186A50}"/>
              </a:ext>
            </a:extLst>
          </p:cNvPr>
          <p:cNvSpPr txBox="1"/>
          <p:nvPr/>
        </p:nvSpPr>
        <p:spPr>
          <a:xfrm>
            <a:off x="12544424" y="1472249"/>
            <a:ext cx="23431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(2).</a:t>
            </a:r>
          </a:p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Chuẩn hóa dữ liệu đầu vào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BE4091-411E-02BF-2B7C-39092AAFCFF0}"/>
              </a:ext>
            </a:extLst>
          </p:cNvPr>
          <p:cNvSpPr/>
          <p:nvPr/>
        </p:nvSpPr>
        <p:spPr>
          <a:xfrm>
            <a:off x="12401314" y="4807610"/>
            <a:ext cx="256032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Vòng lặp tối ưu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104587-D947-BEE4-755B-B7C6CF4E4DD6}"/>
              </a:ext>
            </a:extLst>
          </p:cNvPr>
          <p:cNvSpPr/>
          <p:nvPr/>
        </p:nvSpPr>
        <p:spPr>
          <a:xfrm>
            <a:off x="12404090" y="7481174"/>
            <a:ext cx="256032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 Repair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 nghiệm</a:t>
            </a:r>
          </a:p>
        </p:txBody>
      </p:sp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C97E461C-FE65-0C08-CEA9-D128F7A74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088739"/>
              </p:ext>
            </p:extLst>
          </p:nvPr>
        </p:nvGraphicFramePr>
        <p:xfrm>
          <a:off x="14077791" y="8057294"/>
          <a:ext cx="406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03040" progId="Equation.DSMT4">
                  <p:embed/>
                </p:oleObj>
              </mc:Choice>
              <mc:Fallback>
                <p:oleObj name="Equation" r:id="rId12" imgW="406080" imgH="203040" progId="Equation.DSMT4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DC94E03F-907A-7E11-ED71-D28AF2895D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077791" y="8057294"/>
                        <a:ext cx="406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DC698A92-FBBC-4783-3D04-A8AD106A18AA}"/>
              </a:ext>
            </a:extLst>
          </p:cNvPr>
          <p:cNvSpPr/>
          <p:nvPr/>
        </p:nvSpPr>
        <p:spPr>
          <a:xfrm>
            <a:off x="12404090" y="10017893"/>
            <a:ext cx="256032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 giá nghiệm</a:t>
            </a:r>
          </a:p>
          <a:p>
            <a:pPr algn="ctr"/>
            <a:r>
              <a:rPr lang="en-AU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F1, F2, F3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703133C-A36A-9A62-8E57-1E10FBB44A85}"/>
              </a:ext>
            </a:extLst>
          </p:cNvPr>
          <p:cNvSpPr/>
          <p:nvPr/>
        </p:nvSpPr>
        <p:spPr>
          <a:xfrm>
            <a:off x="12404090" y="3495926"/>
            <a:ext cx="2560320" cy="91661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Khởi tạo quần thể</a:t>
            </a:r>
          </a:p>
          <a:p>
            <a:pPr algn="ctr"/>
            <a:r>
              <a:rPr lang="en-AU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(CSP: z, số trụ: y)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0CAF9FF-374A-C100-5DA0-D1B996F9528E}"/>
              </a:ext>
            </a:extLst>
          </p:cNvPr>
          <p:cNvSpPr/>
          <p:nvPr/>
        </p:nvSpPr>
        <p:spPr>
          <a:xfrm>
            <a:off x="12404090" y="13856555"/>
            <a:ext cx="256032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(11).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 hạt giống tốt nhất</a:t>
            </a:r>
          </a:p>
          <a:p>
            <a:pPr algn="ctr"/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2197D274-AE7B-D62F-E1EC-3CCCB3FFB7A4}"/>
              </a:ext>
            </a:extLst>
          </p:cNvPr>
          <p:cNvCxnSpPr>
            <a:cxnSpLocks/>
            <a:stCxn id="4" idx="2"/>
            <a:endCxn id="46" idx="0"/>
          </p:cNvCxnSpPr>
          <p:nvPr/>
        </p:nvCxnSpPr>
        <p:spPr>
          <a:xfrm rot="16200000" flipH="1">
            <a:off x="11699432" y="1511108"/>
            <a:ext cx="623186" cy="3346450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CDC8BDF2-E73D-4803-CC7F-53B18425FBFC}"/>
              </a:ext>
            </a:extLst>
          </p:cNvPr>
          <p:cNvCxnSpPr>
            <a:cxnSpLocks/>
            <a:stCxn id="7" idx="2"/>
            <a:endCxn id="46" idx="0"/>
          </p:cNvCxnSpPr>
          <p:nvPr/>
        </p:nvCxnSpPr>
        <p:spPr>
          <a:xfrm rot="16200000" flipH="1">
            <a:off x="12837630" y="2649308"/>
            <a:ext cx="623186" cy="1070055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C1DDE7D-A046-6C90-9196-1066703FD34A}"/>
              </a:ext>
            </a:extLst>
          </p:cNvPr>
          <p:cNvCxnSpPr>
            <a:cxnSpLocks/>
            <a:stCxn id="9" idx="2"/>
            <a:endCxn id="46" idx="0"/>
          </p:cNvCxnSpPr>
          <p:nvPr/>
        </p:nvCxnSpPr>
        <p:spPr>
          <a:xfrm rot="5400000">
            <a:off x="13912328" y="2644663"/>
            <a:ext cx="623186" cy="1079340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32FC81DC-6BAB-7EB1-2753-A4BBEB644D06}"/>
              </a:ext>
            </a:extLst>
          </p:cNvPr>
          <p:cNvCxnSpPr>
            <a:cxnSpLocks/>
            <a:stCxn id="11" idx="2"/>
            <a:endCxn id="46" idx="0"/>
          </p:cNvCxnSpPr>
          <p:nvPr/>
        </p:nvCxnSpPr>
        <p:spPr>
          <a:xfrm rot="5400000">
            <a:off x="14987026" y="1569969"/>
            <a:ext cx="623186" cy="3228735"/>
          </a:xfrm>
          <a:prstGeom prst="bent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64D07772-0CD5-693D-6146-C9694E006A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184440"/>
              </p:ext>
            </p:extLst>
          </p:nvPr>
        </p:nvGraphicFramePr>
        <p:xfrm>
          <a:off x="13153866" y="14414104"/>
          <a:ext cx="1041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41120" imgH="228600" progId="Equation.DSMT4">
                  <p:embed/>
                </p:oleObj>
              </mc:Choice>
              <mc:Fallback>
                <p:oleObj name="Equation" r:id="rId14" imgW="1041120" imgH="228600" progId="Equation.DSMT4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CEC58BF9-3A88-0CDC-1BB9-D313792187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153866" y="14414104"/>
                        <a:ext cx="1041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3EE0DE8-36EC-691B-7F05-569443CFAAC2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13684250" y="952858"/>
            <a:ext cx="0" cy="4022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iamond 52">
            <a:extLst>
              <a:ext uri="{FF2B5EF4-FFF2-40B4-BE49-F238E27FC236}">
                <a16:creationId xmlns:a16="http://schemas.microsoft.com/office/drawing/2014/main" id="{B5EF9C4F-A5C0-4F31-1589-3C96409C8028}"/>
              </a:ext>
            </a:extLst>
          </p:cNvPr>
          <p:cNvSpPr/>
          <p:nvPr/>
        </p:nvSpPr>
        <p:spPr>
          <a:xfrm>
            <a:off x="12407185" y="8790646"/>
            <a:ext cx="2560320" cy="883920"/>
          </a:xfrm>
          <a:prstGeom prst="diamond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tra ràng buộc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A3C2E75-459A-274B-DCD7-5557E4D45754}"/>
              </a:ext>
            </a:extLst>
          </p:cNvPr>
          <p:cNvSpPr/>
          <p:nvPr/>
        </p:nvSpPr>
        <p:spPr>
          <a:xfrm>
            <a:off x="12404090" y="11374253"/>
            <a:ext cx="256032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PSO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(pbest/gbest)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Diamond 65">
            <a:extLst>
              <a:ext uri="{FF2B5EF4-FFF2-40B4-BE49-F238E27FC236}">
                <a16:creationId xmlns:a16="http://schemas.microsoft.com/office/drawing/2014/main" id="{6F8B420C-F7B7-B4B0-3E2C-175AC148DE40}"/>
              </a:ext>
            </a:extLst>
          </p:cNvPr>
          <p:cNvSpPr/>
          <p:nvPr/>
        </p:nvSpPr>
        <p:spPr>
          <a:xfrm>
            <a:off x="12407185" y="12621699"/>
            <a:ext cx="2560320" cy="883920"/>
          </a:xfrm>
          <a:prstGeom prst="diamond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 điều kiện dừng?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BBC84831-B3A2-B1FE-5507-B0ED4B0F5EC6}"/>
              </a:ext>
            </a:extLst>
          </p:cNvPr>
          <p:cNvCxnSpPr>
            <a:cxnSpLocks/>
            <a:stCxn id="66" idx="3"/>
            <a:endCxn id="38" idx="3"/>
          </p:cNvCxnSpPr>
          <p:nvPr/>
        </p:nvCxnSpPr>
        <p:spPr>
          <a:xfrm flipH="1" flipV="1">
            <a:off x="14961636" y="5264812"/>
            <a:ext cx="5871" cy="7798849"/>
          </a:xfrm>
          <a:prstGeom prst="bentConnector3">
            <a:avLst>
              <a:gd name="adj1" fmla="val -1297905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107EF45-23CB-B9B9-D4CF-5A2716B8CE34}"/>
              </a:ext>
            </a:extLst>
          </p:cNvPr>
          <p:cNvCxnSpPr>
            <a:stCxn id="42" idx="2"/>
            <a:endCxn id="64" idx="0"/>
          </p:cNvCxnSpPr>
          <p:nvPr/>
        </p:nvCxnSpPr>
        <p:spPr>
          <a:xfrm>
            <a:off x="13684250" y="10932293"/>
            <a:ext cx="0" cy="44196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50A815A-1682-EE41-21F7-E987987C38A3}"/>
              </a:ext>
            </a:extLst>
          </p:cNvPr>
          <p:cNvCxnSpPr>
            <a:cxnSpLocks/>
            <a:stCxn id="46" idx="2"/>
            <a:endCxn id="38" idx="0"/>
          </p:cNvCxnSpPr>
          <p:nvPr/>
        </p:nvCxnSpPr>
        <p:spPr>
          <a:xfrm flipH="1">
            <a:off x="13681475" y="4412538"/>
            <a:ext cx="2776" cy="39507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7BE77B4-CF2F-28C9-D787-A2507D0060EE}"/>
              </a:ext>
            </a:extLst>
          </p:cNvPr>
          <p:cNvSpPr/>
          <p:nvPr/>
        </p:nvSpPr>
        <p:spPr>
          <a:xfrm>
            <a:off x="12397580" y="6169139"/>
            <a:ext cx="256032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vận tốc và vị trí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AC2CC6-2540-3362-6DA0-DC4EBAAB519C}"/>
              </a:ext>
            </a:extLst>
          </p:cNvPr>
          <p:cNvCxnSpPr>
            <a:stCxn id="66" idx="2"/>
            <a:endCxn id="49" idx="0"/>
          </p:cNvCxnSpPr>
          <p:nvPr/>
        </p:nvCxnSpPr>
        <p:spPr>
          <a:xfrm flipH="1">
            <a:off x="13684251" y="13505619"/>
            <a:ext cx="3095" cy="35093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lowchart: Terminator 50">
            <a:extLst>
              <a:ext uri="{FF2B5EF4-FFF2-40B4-BE49-F238E27FC236}">
                <a16:creationId xmlns:a16="http://schemas.microsoft.com/office/drawing/2014/main" id="{7486AE11-EFA0-FA87-F19A-C790F0A81EAF}"/>
              </a:ext>
            </a:extLst>
          </p:cNvPr>
          <p:cNvSpPr/>
          <p:nvPr/>
        </p:nvSpPr>
        <p:spPr>
          <a:xfrm>
            <a:off x="13099970" y="15140274"/>
            <a:ext cx="1168560" cy="470738"/>
          </a:xfrm>
          <a:prstGeom prst="flowChartTermina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(12).</a:t>
            </a:r>
          </a:p>
          <a:p>
            <a:pPr algn="ctr"/>
            <a:r>
              <a:rPr lang="en-US" sz="1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  <a:endParaRPr lang="en-AU" sz="13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D920D49-ADC8-07F7-4C07-501683B1484B}"/>
              </a:ext>
            </a:extLst>
          </p:cNvPr>
          <p:cNvCxnSpPr>
            <a:stCxn id="49" idx="2"/>
            <a:endCxn id="51" idx="0"/>
          </p:cNvCxnSpPr>
          <p:nvPr/>
        </p:nvCxnSpPr>
        <p:spPr>
          <a:xfrm>
            <a:off x="13684250" y="14770956"/>
            <a:ext cx="0" cy="36931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C461F47-E93E-72FB-1FC5-DFC1FC48559C}"/>
              </a:ext>
            </a:extLst>
          </p:cNvPr>
          <p:cNvCxnSpPr>
            <a:stCxn id="64" idx="2"/>
            <a:endCxn id="66" idx="0"/>
          </p:cNvCxnSpPr>
          <p:nvPr/>
        </p:nvCxnSpPr>
        <p:spPr>
          <a:xfrm>
            <a:off x="13684251" y="12288653"/>
            <a:ext cx="3095" cy="33304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6E31AB89-3B72-D997-14D3-E0F35FC04019}"/>
              </a:ext>
            </a:extLst>
          </p:cNvPr>
          <p:cNvCxnSpPr>
            <a:stCxn id="53" idx="1"/>
            <a:endCxn id="39" idx="1"/>
          </p:cNvCxnSpPr>
          <p:nvPr/>
        </p:nvCxnSpPr>
        <p:spPr>
          <a:xfrm rot="10800000">
            <a:off x="12404093" y="7938375"/>
            <a:ext cx="3095" cy="1294232"/>
          </a:xfrm>
          <a:prstGeom prst="bentConnector3">
            <a:avLst>
              <a:gd name="adj1" fmla="val 20411793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4E08424-BF9B-DDDC-46ED-59F657B31EE1}"/>
              </a:ext>
            </a:extLst>
          </p:cNvPr>
          <p:cNvCxnSpPr>
            <a:stCxn id="39" idx="2"/>
            <a:endCxn id="53" idx="0"/>
          </p:cNvCxnSpPr>
          <p:nvPr/>
        </p:nvCxnSpPr>
        <p:spPr>
          <a:xfrm>
            <a:off x="13684251" y="8395575"/>
            <a:ext cx="3095" cy="39507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DA1E16D-F9B5-5851-F6DE-37A04CAAA3BB}"/>
              </a:ext>
            </a:extLst>
          </p:cNvPr>
          <p:cNvCxnSpPr>
            <a:stCxn id="53" idx="2"/>
            <a:endCxn id="42" idx="0"/>
          </p:cNvCxnSpPr>
          <p:nvPr/>
        </p:nvCxnSpPr>
        <p:spPr>
          <a:xfrm flipH="1">
            <a:off x="13684251" y="9674567"/>
            <a:ext cx="3095" cy="34332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6468B3F-D186-F46E-5A4D-3449B532D612}"/>
              </a:ext>
            </a:extLst>
          </p:cNvPr>
          <p:cNvCxnSpPr>
            <a:stCxn id="38" idx="2"/>
            <a:endCxn id="127" idx="0"/>
          </p:cNvCxnSpPr>
          <p:nvPr/>
        </p:nvCxnSpPr>
        <p:spPr>
          <a:xfrm flipH="1">
            <a:off x="13677741" y="5722012"/>
            <a:ext cx="3734" cy="44712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35A05B0-2667-F65F-86DB-6AB15D4D4FB6}"/>
              </a:ext>
            </a:extLst>
          </p:cNvPr>
          <p:cNvCxnSpPr>
            <a:stCxn id="127" idx="2"/>
            <a:endCxn id="39" idx="0"/>
          </p:cNvCxnSpPr>
          <p:nvPr/>
        </p:nvCxnSpPr>
        <p:spPr>
          <a:xfrm>
            <a:off x="13677740" y="7083541"/>
            <a:ext cx="6510" cy="3976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F79DD75-0CCB-CB25-266D-EFD5B9713C1D}"/>
              </a:ext>
            </a:extLst>
          </p:cNvPr>
          <p:cNvSpPr txBox="1"/>
          <p:nvPr/>
        </p:nvSpPr>
        <p:spPr>
          <a:xfrm>
            <a:off x="13906340" y="12773682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Chưa đạt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C382969-D8B6-8035-7BA2-0F7B49E964DF}"/>
              </a:ext>
            </a:extLst>
          </p:cNvPr>
          <p:cNvSpPr txBox="1"/>
          <p:nvPr/>
        </p:nvSpPr>
        <p:spPr>
          <a:xfrm>
            <a:off x="12544424" y="13475014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A3DF36C-E223-A4BF-0491-4F6893822FDA}"/>
              </a:ext>
            </a:extLst>
          </p:cNvPr>
          <p:cNvSpPr txBox="1"/>
          <p:nvPr/>
        </p:nvSpPr>
        <p:spPr>
          <a:xfrm>
            <a:off x="12544424" y="9694895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FECDB49-738F-4D21-A157-5E1B74DB518F}"/>
              </a:ext>
            </a:extLst>
          </p:cNvPr>
          <p:cNvSpPr txBox="1"/>
          <p:nvPr/>
        </p:nvSpPr>
        <p:spPr>
          <a:xfrm>
            <a:off x="10655303" y="8984795"/>
            <a:ext cx="28737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Chưa đạt</a:t>
            </a:r>
            <a:endParaRPr lang="en-AU" sz="1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23154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1026</Words>
  <Application>Microsoft Office PowerPoint</Application>
  <PresentationFormat>Custom</PresentationFormat>
  <Paragraphs>181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Bierstadt</vt:lpstr>
      <vt:lpstr>Times New Roman</vt:lpstr>
      <vt:lpstr>GestaltVTI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Khai Nguyen</dc:creator>
  <cp:lastModifiedBy>Khai Nguyen</cp:lastModifiedBy>
  <cp:revision>6</cp:revision>
  <dcterms:created xsi:type="dcterms:W3CDTF">2025-10-28T06:05:37Z</dcterms:created>
  <dcterms:modified xsi:type="dcterms:W3CDTF">2026-01-21T14:17:50Z</dcterms:modified>
</cp:coreProperties>
</file>